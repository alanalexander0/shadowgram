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7315200" cx="9753600"/>
  <p:notesSz cx="6858000" cy="9144000"/>
  <p:embeddedFontLst>
    <p:embeddedFont>
      <p:font typeface="Montserra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jMAcAImuUMW6ss7rmuZzcemtMm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font" Target="fonts/Montserrat-regular.fntdata"/><Relationship Id="rId12" Type="http://schemas.openxmlformats.org/officeDocument/2006/relationships/font" Target="fonts/Montserrat-bold.fntdata"/><Relationship Id="rId13" Type="http://schemas.openxmlformats.org/officeDocument/2006/relationships/font" Target="fonts/Montserrat-italic.fntdata"/><Relationship Id="rId14" Type="http://schemas.openxmlformats.org/officeDocument/2006/relationships/font" Target="fonts/Montserrat-boldItalic.fntdata"/><Relationship Id="rId1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31520" y="0"/>
            <a:ext cx="9525" cy="766624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1"/>
          <p:cNvGrpSpPr/>
          <p:nvPr/>
        </p:nvGrpSpPr>
        <p:grpSpPr>
          <a:xfrm>
            <a:off x="325798" y="6669405"/>
            <a:ext cx="87739" cy="482566"/>
            <a:chOff x="0" y="0"/>
            <a:chExt cx="116986" cy="643422"/>
          </a:xfrm>
        </p:grpSpPr>
        <p:sp>
          <p:nvSpPr>
            <p:cNvPr id="86" name="Google Shape;86;p1"/>
            <p:cNvSpPr/>
            <p:nvPr/>
          </p:nvSpPr>
          <p:spPr>
            <a:xfrm rot="10800000">
              <a:off x="0" y="350957"/>
              <a:ext cx="116986" cy="116986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"/>
            <p:cNvSpPr/>
            <p:nvPr/>
          </p:nvSpPr>
          <p:spPr>
            <a:xfrm rot="10800000">
              <a:off x="0" y="526436"/>
              <a:ext cx="116986" cy="116986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"/>
            <p:cNvSpPr/>
            <p:nvPr/>
          </p:nvSpPr>
          <p:spPr>
            <a:xfrm rot="10800000">
              <a:off x="0" y="175479"/>
              <a:ext cx="116986" cy="116986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0" y="0"/>
              <a:ext cx="116986" cy="116986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"/>
          <p:cNvSpPr/>
          <p:nvPr/>
        </p:nvSpPr>
        <p:spPr>
          <a:xfrm>
            <a:off x="9012555" y="0"/>
            <a:ext cx="9525" cy="766624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-186703" y="4783112"/>
            <a:ext cx="10038632" cy="236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2370677" y="1151477"/>
            <a:ext cx="5012247" cy="5012247"/>
          </a:xfrm>
          <a:custGeom>
            <a:rect b="b" l="l" r="r" t="t"/>
            <a:pathLst>
              <a:path extrusionOk="0" h="5012247" w="5012247">
                <a:moveTo>
                  <a:pt x="0" y="0"/>
                </a:moveTo>
                <a:lnTo>
                  <a:pt x="5012246" y="0"/>
                </a:lnTo>
                <a:lnTo>
                  <a:pt x="501224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1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6455032" y="93890"/>
            <a:ext cx="660329" cy="637630"/>
          </a:xfrm>
          <a:custGeom>
            <a:rect b="b" l="l" r="r" t="t"/>
            <a:pathLst>
              <a:path extrusionOk="0" h="637630" w="660329">
                <a:moveTo>
                  <a:pt x="0" y="0"/>
                </a:moveTo>
                <a:lnTo>
                  <a:pt x="660329" y="0"/>
                </a:lnTo>
                <a:lnTo>
                  <a:pt x="660329" y="637630"/>
                </a:lnTo>
                <a:lnTo>
                  <a:pt x="0" y="6376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0" y="770429"/>
            <a:ext cx="9017000" cy="957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7192423" y="105022"/>
            <a:ext cx="1702827" cy="626498"/>
          </a:xfrm>
          <a:custGeom>
            <a:rect b="b" l="l" r="r" t="t"/>
            <a:pathLst>
              <a:path extrusionOk="0" h="626498" w="1702827">
                <a:moveTo>
                  <a:pt x="0" y="0"/>
                </a:moveTo>
                <a:lnTo>
                  <a:pt x="1702827" y="0"/>
                </a:lnTo>
                <a:lnTo>
                  <a:pt x="1702827" y="626498"/>
                </a:lnTo>
                <a:lnTo>
                  <a:pt x="0" y="626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6" name="Google Shape;96;p1"/>
          <p:cNvGrpSpPr/>
          <p:nvPr/>
        </p:nvGrpSpPr>
        <p:grpSpPr>
          <a:xfrm>
            <a:off x="1390200" y="1906230"/>
            <a:ext cx="7380000" cy="1247344"/>
            <a:chOff x="0" y="104775"/>
            <a:chExt cx="9840000" cy="2820132"/>
          </a:xfrm>
        </p:grpSpPr>
        <p:sp>
          <p:nvSpPr>
            <p:cNvPr id="97" name="Google Shape;97;p1"/>
            <p:cNvSpPr txBox="1"/>
            <p:nvPr/>
          </p:nvSpPr>
          <p:spPr>
            <a:xfrm>
              <a:off x="0" y="104775"/>
              <a:ext cx="9570600" cy="15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00" u="none" cap="none" strike="noStrike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SHADOWGRAM</a:t>
              </a:r>
              <a:endParaRPr/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0" y="2139207"/>
              <a:ext cx="9840000" cy="78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Behavioral Graph Detection of Coordinated AI-Agent Swarms &amp; Synthetic Persona Rings</a:t>
              </a:r>
              <a:endParaRPr/>
            </a:p>
          </p:txBody>
        </p:sp>
      </p:grpSp>
      <p:sp>
        <p:nvSpPr>
          <p:cNvPr id="99" name="Google Shape;99;p1"/>
          <p:cNvSpPr txBox="1"/>
          <p:nvPr/>
        </p:nvSpPr>
        <p:spPr>
          <a:xfrm>
            <a:off x="1005840" y="4983480"/>
            <a:ext cx="384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E53935"/>
                </a:solidFill>
              </a:rPr>
              <a:t>TEAM NAME</a:t>
            </a:r>
            <a:r>
              <a:rPr b="1" lang="en-US" sz="1400">
                <a:solidFill>
                  <a:srgbClr val="E53935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Crafty </a:t>
            </a:r>
            <a:r>
              <a:rPr b="1" lang="en-US">
                <a:solidFill>
                  <a:srgbClr val="0F172A"/>
                </a:solidFill>
              </a:rPr>
              <a:t>Crew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1005840" y="562356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INSTITUTION:</a:t>
            </a:r>
            <a:br>
              <a:rPr b="1"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Jyothi Engineering College (Autonomous)</a:t>
            </a:r>
            <a:br>
              <a:rPr lang="en-US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Cheruthuruthy, Thrissur, Kerala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5029200" y="4892054"/>
            <a:ext cx="38862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53935"/>
                </a:solidFill>
                <a:latin typeface="Arial"/>
                <a:ea typeface="Arial"/>
                <a:cs typeface="Arial"/>
                <a:sym typeface="Arial"/>
              </a:rPr>
              <a:t>TEAM MEMBERS: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1. Aiswarya Kallayil Rajesh</a:t>
            </a:r>
            <a:r>
              <a:rPr b="1" lang="en-US" sz="950">
                <a:solidFill>
                  <a:srgbClr val="0F172A"/>
                </a:solidFill>
              </a:rPr>
              <a:t> </a:t>
            </a: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lang="en-US"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B.Tech, AI &amp; D</a:t>
            </a:r>
            <a:r>
              <a:rPr lang="en-US" sz="900">
                <a:solidFill>
                  <a:srgbClr val="475569"/>
                </a:solidFill>
              </a:rPr>
              <a:t>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en-US" sz="950">
                <a:solidFill>
                  <a:srgbClr val="0F172A"/>
                </a:solidFill>
              </a:rPr>
              <a:t>Alan E </a:t>
            </a:r>
            <a:r>
              <a:rPr b="1" lang="en-US" sz="950">
                <a:solidFill>
                  <a:srgbClr val="0F172A"/>
                </a:solidFill>
              </a:rPr>
              <a:t>Alexander</a:t>
            </a: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lang="en-US"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B.Tech, </a:t>
            </a:r>
            <a:r>
              <a:rPr lang="en-US" sz="900">
                <a:solidFill>
                  <a:srgbClr val="475569"/>
                </a:solidFill>
              </a:rPr>
              <a:t>AI &amp; DS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1" lang="en-US" sz="950">
                <a:solidFill>
                  <a:srgbClr val="0F172A"/>
                </a:solidFill>
              </a:rPr>
              <a:t>Mohammed Nihad PC</a:t>
            </a: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lang="en-US"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B.Tech, Computer Science </a:t>
            </a:r>
            <a:r>
              <a:rPr lang="en-US" sz="900">
                <a:solidFill>
                  <a:srgbClr val="475569"/>
                </a:solidFill>
              </a:rPr>
              <a:t>(</a:t>
            </a:r>
            <a:r>
              <a:rPr lang="en-US"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Cyber)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1" lang="en-US" sz="950">
                <a:solidFill>
                  <a:srgbClr val="0F172A"/>
                </a:solidFill>
              </a:rPr>
              <a:t>Ashlin Theres James</a:t>
            </a: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lang="en-US"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B.Tech, </a:t>
            </a:r>
            <a:r>
              <a:rPr lang="en-US" sz="900">
                <a:solidFill>
                  <a:srgbClr val="475569"/>
                </a:solidFill>
              </a:rPr>
              <a:t>AI &amp; DS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2428440" y="4121920"/>
            <a:ext cx="5303400" cy="347400"/>
          </a:xfrm>
          <a:prstGeom prst="rect">
            <a:avLst/>
          </a:prstGeom>
          <a:solidFill>
            <a:srgbClr val="E539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TRACK 04: SYNTHETIC IDENTITY &amp; KYC • TRACK 05: OPEN FRAUD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>
            <a:off x="9017000" y="0"/>
            <a:ext cx="9525" cy="74858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1051560" y="438912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What is being Faked/Exploited?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-2787" y="0"/>
            <a:ext cx="738900" cy="1686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726440" y="127699"/>
            <a:ext cx="9525" cy="744042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2"/>
          <p:cNvGrpSpPr/>
          <p:nvPr/>
        </p:nvGrpSpPr>
        <p:grpSpPr>
          <a:xfrm>
            <a:off x="325798" y="6680262"/>
            <a:ext cx="87739" cy="482566"/>
            <a:chOff x="0" y="0"/>
            <a:chExt cx="116986" cy="643422"/>
          </a:xfrm>
        </p:grpSpPr>
        <p:sp>
          <p:nvSpPr>
            <p:cNvPr id="112" name="Google Shape;112;p2"/>
            <p:cNvSpPr/>
            <p:nvPr/>
          </p:nvSpPr>
          <p:spPr>
            <a:xfrm rot="10800000">
              <a:off x="0" y="350957"/>
              <a:ext cx="116986" cy="116986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 rot="10800000">
              <a:off x="0" y="526436"/>
              <a:ext cx="116986" cy="116986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 rot="10800000">
              <a:off x="0" y="175479"/>
              <a:ext cx="116986" cy="116986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0" y="0"/>
              <a:ext cx="116986" cy="116986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2"/>
          <p:cNvSpPr txBox="1"/>
          <p:nvPr/>
        </p:nvSpPr>
        <p:spPr>
          <a:xfrm>
            <a:off x="1170956" y="2759024"/>
            <a:ext cx="6607850" cy="603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1170956" y="2174774"/>
            <a:ext cx="3181969" cy="357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2370677" y="1151477"/>
            <a:ext cx="5012247" cy="5012247"/>
          </a:xfrm>
          <a:custGeom>
            <a:rect b="b" l="l" r="r" t="t"/>
            <a:pathLst>
              <a:path extrusionOk="0" h="5012247" w="5012247">
                <a:moveTo>
                  <a:pt x="0" y="0"/>
                </a:moveTo>
                <a:lnTo>
                  <a:pt x="5012246" y="0"/>
                </a:lnTo>
                <a:lnTo>
                  <a:pt x="501224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1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2"/>
          <p:cNvSpPr/>
          <p:nvPr/>
        </p:nvSpPr>
        <p:spPr>
          <a:xfrm>
            <a:off x="0" y="6555057"/>
            <a:ext cx="9017000" cy="957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241325" y="712472"/>
            <a:ext cx="32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000">
                <a:solidFill>
                  <a:srgbClr val="FFFFFF"/>
                </a:solidFill>
              </a:rPr>
              <a:t>1</a:t>
            </a:r>
            <a:endParaRPr sz="2000"/>
          </a:p>
        </p:txBody>
      </p:sp>
      <p:grpSp>
        <p:nvGrpSpPr>
          <p:cNvPr id="121" name="Google Shape;121;p2"/>
          <p:cNvGrpSpPr/>
          <p:nvPr/>
        </p:nvGrpSpPr>
        <p:grpSpPr>
          <a:xfrm>
            <a:off x="6383153" y="6602730"/>
            <a:ext cx="2498501" cy="637630"/>
            <a:chOff x="0" y="0"/>
            <a:chExt cx="3331335" cy="850174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880439" cy="850174"/>
            </a:xfrm>
            <a:custGeom>
              <a:rect b="b" l="l" r="r" t="t"/>
              <a:pathLst>
                <a:path extrusionOk="0" h="850174" w="880439">
                  <a:moveTo>
                    <a:pt x="0" y="0"/>
                  </a:moveTo>
                  <a:lnTo>
                    <a:pt x="880439" y="0"/>
                  </a:lnTo>
                  <a:lnTo>
                    <a:pt x="880439" y="850174"/>
                  </a:lnTo>
                  <a:lnTo>
                    <a:pt x="0" y="85017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3" name="Google Shape;123;p2"/>
            <p:cNvSpPr/>
            <p:nvPr/>
          </p:nvSpPr>
          <p:spPr>
            <a:xfrm>
              <a:off x="1060899" y="14843"/>
              <a:ext cx="2270436" cy="835331"/>
            </a:xfrm>
            <a:custGeom>
              <a:rect b="b" l="l" r="r" t="t"/>
              <a:pathLst>
                <a:path extrusionOk="0" h="835331" w="2270436">
                  <a:moveTo>
                    <a:pt x="0" y="0"/>
                  </a:moveTo>
                  <a:lnTo>
                    <a:pt x="2270436" y="0"/>
                  </a:lnTo>
                  <a:lnTo>
                    <a:pt x="2270436" y="835331"/>
                  </a:lnTo>
                  <a:lnTo>
                    <a:pt x="0" y="83533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24" name="Google Shape;124;p2"/>
          <p:cNvSpPr txBox="1"/>
          <p:nvPr/>
        </p:nvSpPr>
        <p:spPr>
          <a:xfrm>
            <a:off x="1028760" y="1151475"/>
            <a:ext cx="7818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E53935"/>
                </a:solidFill>
              </a:rPr>
              <a:t>THE THREAT : CO-ORDINATED AI-ASSISTED FRAUD NETWORKS</a:t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1051550" y="1874525"/>
            <a:ext cx="2469000" cy="3604800"/>
          </a:xfrm>
          <a:prstGeom prst="roundRect">
            <a:avLst>
              <a:gd fmla="val 16667" name="adj"/>
            </a:avLst>
          </a:prstGeom>
          <a:solidFill>
            <a:srgbClr val="FFFFFF">
              <a:alpha val="78039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1051560" y="1874519"/>
            <a:ext cx="2468880" cy="128016"/>
          </a:xfrm>
          <a:prstGeom prst="rect">
            <a:avLst/>
          </a:prstGeom>
          <a:solidFill>
            <a:srgbClr val="E539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1161288" y="2057399"/>
            <a:ext cx="2249400" cy="3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1. The AI Exploit Scenario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Autonomous Multi-Accounting: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Attackers use AI agents and automation tools to operate multiple accounts in parallel.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Polymorphic Camouflage: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LLMs generate varied bios, profile text and messages, making synthetic accounts appear different and human-like.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Defeating Single Checks: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CAPTCHAs and account-level rules may fail when each synthetic account appears legitimate in isolation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80">
              <a:solidFill>
                <a:srgbClr val="E53935"/>
              </a:solidFill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3749000" y="1874525"/>
            <a:ext cx="2469000" cy="3604800"/>
          </a:xfrm>
          <a:prstGeom prst="roundRect">
            <a:avLst>
              <a:gd fmla="val 16667" name="adj"/>
            </a:avLst>
          </a:prstGeom>
          <a:solidFill>
            <a:srgbClr val="FFFFFF">
              <a:alpha val="78039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3749039" y="1874519"/>
            <a:ext cx="2468880" cy="128016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539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3858767" y="2057399"/>
            <a:ext cx="2249400" cy="3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2. Victims &amp; Target Sectors</a:t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FinTech &amp; Micro-Lending: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Referral abuse, sign-up bonus abuse and coordinated account activity.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E-Commerce &amp; Marketplaces: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Fake accounts, coordinated reviews, merchant abuse and marketplace manipulation.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Digital Platforms: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Fake engagement, phishing distribution and coordinated inauthentic activity.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1" sz="880">
              <a:solidFill>
                <a:srgbClr val="0F172A"/>
              </a:solidFill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6446525" y="1874525"/>
            <a:ext cx="2469000" cy="3604800"/>
          </a:xfrm>
          <a:prstGeom prst="roundRect">
            <a:avLst>
              <a:gd fmla="val 16667" name="adj"/>
            </a:avLst>
          </a:prstGeom>
          <a:solidFill>
            <a:srgbClr val="FFFFFF">
              <a:alpha val="78039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6446520" y="1874519"/>
            <a:ext cx="2468880" cy="128016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6556248" y="2057399"/>
            <a:ext cx="22494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3. Why Existing Tools Fail</a:t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</a:t>
            </a:r>
            <a:r>
              <a:rPr b="1" lang="en-US" sz="1000">
                <a:solidFill>
                  <a:schemeClr val="dk1"/>
                </a:solidFill>
              </a:rPr>
              <a:t> Isolated Account Analysis: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Many systems examine accounts individually and may miss </a:t>
            </a:r>
            <a:r>
              <a:rPr lang="en-US" sz="1000">
                <a:solidFill>
                  <a:schemeClr val="dk1"/>
                </a:solidFill>
              </a:rPr>
              <a:t>relationships between them.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Hidden Coordination: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Timing, navigation and behavioral similarities across accounts can remain undetected.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Limited Explainability: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A risk score such as “82% Suspicious” does not clearly show why accounts appear connected.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80">
              <a:solidFill>
                <a:srgbClr val="0F172A"/>
              </a:solidFill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1161300" y="5757500"/>
            <a:ext cx="74310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E53935"/>
                </a:solidFill>
              </a:rPr>
              <a:t>CORE PROBLEM</a:t>
            </a:r>
            <a:endParaRPr b="1" sz="1300">
              <a:solidFill>
                <a:srgbClr val="E5393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100">
                <a:solidFill>
                  <a:schemeClr val="dk1"/>
                </a:solidFill>
              </a:rPr>
              <a:t>The fraud is not only hidden inside an account — it is hidden in the relationship between accounts.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/>
          <p:nvPr/>
        </p:nvSpPr>
        <p:spPr>
          <a:xfrm>
            <a:off x="1283564" y="496441"/>
            <a:ext cx="6572549" cy="626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6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How will we stop it?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9017000" y="-216918"/>
            <a:ext cx="9525" cy="782187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-69603" y="1683678"/>
            <a:ext cx="9823203" cy="95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9245141" y="545401"/>
            <a:ext cx="32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000"/>
          </a:p>
        </p:txBody>
      </p:sp>
      <p:sp>
        <p:nvSpPr>
          <p:cNvPr id="143" name="Google Shape;143;p3"/>
          <p:cNvSpPr txBox="1"/>
          <p:nvPr/>
        </p:nvSpPr>
        <p:spPr>
          <a:xfrm>
            <a:off x="924716" y="2443063"/>
            <a:ext cx="7700248" cy="603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2370677" y="1151477"/>
            <a:ext cx="5012247" cy="5012247"/>
          </a:xfrm>
          <a:custGeom>
            <a:rect b="b" l="l" r="r" t="t"/>
            <a:pathLst>
              <a:path extrusionOk="0" h="5012247" w="5012247">
                <a:moveTo>
                  <a:pt x="0" y="0"/>
                </a:moveTo>
                <a:lnTo>
                  <a:pt x="5012246" y="0"/>
                </a:lnTo>
                <a:lnTo>
                  <a:pt x="501224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1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3"/>
          <p:cNvSpPr/>
          <p:nvPr/>
        </p:nvSpPr>
        <p:spPr>
          <a:xfrm>
            <a:off x="726440" y="127699"/>
            <a:ext cx="9525" cy="744042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" name="Google Shape;146;p3"/>
          <p:cNvGrpSpPr/>
          <p:nvPr/>
        </p:nvGrpSpPr>
        <p:grpSpPr>
          <a:xfrm>
            <a:off x="325798" y="6699312"/>
            <a:ext cx="87739" cy="482566"/>
            <a:chOff x="0" y="0"/>
            <a:chExt cx="116986" cy="643422"/>
          </a:xfrm>
        </p:grpSpPr>
        <p:sp>
          <p:nvSpPr>
            <p:cNvPr id="147" name="Google Shape;147;p3"/>
            <p:cNvSpPr/>
            <p:nvPr/>
          </p:nvSpPr>
          <p:spPr>
            <a:xfrm rot="10800000">
              <a:off x="0" y="350957"/>
              <a:ext cx="116986" cy="116986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 rot="10800000">
              <a:off x="0" y="526436"/>
              <a:ext cx="116986" cy="116986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 rot="10800000">
              <a:off x="0" y="175479"/>
              <a:ext cx="116986" cy="116986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0" y="0"/>
              <a:ext cx="116986" cy="116986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p3"/>
          <p:cNvSpPr/>
          <p:nvPr/>
        </p:nvSpPr>
        <p:spPr>
          <a:xfrm>
            <a:off x="-2787" y="0"/>
            <a:ext cx="738752" cy="168623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0" y="6574107"/>
            <a:ext cx="9017000" cy="957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3"/>
          <p:cNvGrpSpPr/>
          <p:nvPr/>
        </p:nvGrpSpPr>
        <p:grpSpPr>
          <a:xfrm>
            <a:off x="6383153" y="6602730"/>
            <a:ext cx="2498501" cy="637630"/>
            <a:chOff x="0" y="0"/>
            <a:chExt cx="3331335" cy="850174"/>
          </a:xfrm>
        </p:grpSpPr>
        <p:sp>
          <p:nvSpPr>
            <p:cNvPr id="154" name="Google Shape;154;p3"/>
            <p:cNvSpPr/>
            <p:nvPr/>
          </p:nvSpPr>
          <p:spPr>
            <a:xfrm>
              <a:off x="0" y="0"/>
              <a:ext cx="880439" cy="850174"/>
            </a:xfrm>
            <a:custGeom>
              <a:rect b="b" l="l" r="r" t="t"/>
              <a:pathLst>
                <a:path extrusionOk="0" h="850174" w="880439">
                  <a:moveTo>
                    <a:pt x="0" y="0"/>
                  </a:moveTo>
                  <a:lnTo>
                    <a:pt x="880439" y="0"/>
                  </a:lnTo>
                  <a:lnTo>
                    <a:pt x="880439" y="850174"/>
                  </a:lnTo>
                  <a:lnTo>
                    <a:pt x="0" y="85017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5" name="Google Shape;155;p3"/>
            <p:cNvSpPr/>
            <p:nvPr/>
          </p:nvSpPr>
          <p:spPr>
            <a:xfrm>
              <a:off x="1060899" y="14843"/>
              <a:ext cx="2270436" cy="835331"/>
            </a:xfrm>
            <a:custGeom>
              <a:rect b="b" l="l" r="r" t="t"/>
              <a:pathLst>
                <a:path extrusionOk="0" h="835331" w="2270436">
                  <a:moveTo>
                    <a:pt x="0" y="0"/>
                  </a:moveTo>
                  <a:lnTo>
                    <a:pt x="2270436" y="0"/>
                  </a:lnTo>
                  <a:lnTo>
                    <a:pt x="2270436" y="835331"/>
                  </a:lnTo>
                  <a:lnTo>
                    <a:pt x="0" y="83533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56" name="Google Shape;156;p3"/>
          <p:cNvSpPr txBox="1"/>
          <p:nvPr/>
        </p:nvSpPr>
        <p:spPr>
          <a:xfrm>
            <a:off x="1283585" y="1264838"/>
            <a:ext cx="7818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E53935"/>
                </a:solidFill>
              </a:rPr>
              <a:t>RELATIONAL BEHAVIORAL TELEMETRY &amp; THE EXPLAINABLE “WHY” LAYER </a:t>
            </a:r>
            <a:endParaRPr sz="1200"/>
          </a:p>
        </p:txBody>
      </p:sp>
      <p:sp>
        <p:nvSpPr>
          <p:cNvPr id="157" name="Google Shape;157;p3"/>
          <p:cNvSpPr/>
          <p:nvPr/>
        </p:nvSpPr>
        <p:spPr>
          <a:xfrm>
            <a:off x="1051550" y="1874525"/>
            <a:ext cx="2469000" cy="4497000"/>
          </a:xfrm>
          <a:prstGeom prst="roundRect">
            <a:avLst>
              <a:gd fmla="val 16667" name="adj"/>
            </a:avLst>
          </a:prstGeom>
          <a:solidFill>
            <a:srgbClr val="FFFFFF">
              <a:alpha val="78039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1051560" y="1874519"/>
            <a:ext cx="2468880" cy="128016"/>
          </a:xfrm>
          <a:prstGeom prst="rect">
            <a:avLst/>
          </a:prstGeom>
          <a:solidFill>
            <a:srgbClr val="E539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1161288" y="2057399"/>
            <a:ext cx="2249400" cy="4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1. The Relational Shift</a:t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Core Thesis: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Instead of asking </a:t>
            </a:r>
            <a:r>
              <a:rPr b="1" lang="en-US" sz="1000">
                <a:solidFill>
                  <a:schemeClr val="dk1"/>
                </a:solidFill>
              </a:rPr>
              <a:t>“Is this account AI-generated?”</a:t>
            </a:r>
            <a:r>
              <a:rPr lang="en-US" sz="1000">
                <a:solidFill>
                  <a:schemeClr val="dk1"/>
                </a:solidFill>
              </a:rPr>
              <a:t>, ShadowGram asks:</a:t>
            </a:r>
            <a:br>
              <a:rPr lang="en-US" sz="1000">
                <a:solidFill>
                  <a:schemeClr val="dk1"/>
                </a:solidFill>
              </a:rPr>
            </a:br>
            <a:r>
              <a:rPr b="1" lang="en-US" sz="1000">
                <a:solidFill>
                  <a:schemeClr val="dk1"/>
                </a:solidFill>
              </a:rPr>
              <a:t>“Do these apparently independent accounts show evidence of coordinated operation?”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Capturing Hidden Coordination: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LLMs can generate varied text, but coordinated automation can still produce measurable patterns in </a:t>
            </a:r>
            <a:r>
              <a:rPr b="1" lang="en-US" sz="1000">
                <a:solidFill>
                  <a:schemeClr val="dk1"/>
                </a:solidFill>
              </a:rPr>
              <a:t>timing, navigation and interaction behavior</a:t>
            </a:r>
            <a:r>
              <a:rPr lang="en-US" sz="1000">
                <a:solidFill>
                  <a:schemeClr val="dk1"/>
                </a:solidFill>
              </a:rPr>
              <a:t>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Multi-Signal Defense: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ShadowGram combines evidence from </a:t>
            </a:r>
            <a:r>
              <a:rPr b="1" lang="en-US" sz="1000">
                <a:solidFill>
                  <a:schemeClr val="dk1"/>
                </a:solidFill>
              </a:rPr>
              <a:t>5 behavioral signal categories</a:t>
            </a:r>
            <a:r>
              <a:rPr lang="en-US" sz="1000">
                <a:solidFill>
                  <a:schemeClr val="dk1"/>
                </a:solidFill>
              </a:rPr>
              <a:t> before identifying a potentially coordinated cluster.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53935"/>
              </a:solidFill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749050" y="1874525"/>
            <a:ext cx="2469000" cy="4497000"/>
          </a:xfrm>
          <a:prstGeom prst="roundRect">
            <a:avLst>
              <a:gd fmla="val 16667" name="adj"/>
            </a:avLst>
          </a:prstGeom>
          <a:solidFill>
            <a:srgbClr val="FFFFFF">
              <a:alpha val="78039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3749039" y="1874519"/>
            <a:ext cx="2468880" cy="128016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3858775" y="2057400"/>
            <a:ext cx="2359200" cy="4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2. The 5 Behavioral</a:t>
            </a:r>
            <a:r>
              <a:rPr b="1" lang="en-US" sz="1250">
                <a:solidFill>
                  <a:srgbClr val="0F172A"/>
                </a:solidFill>
              </a:rPr>
              <a:t> </a:t>
            </a:r>
            <a:r>
              <a:rPr b="1"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Fingerprints</a:t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Interaction Dynamics: </a:t>
            </a:r>
            <a:r>
              <a:rPr lang="en-US" sz="1000">
                <a:solidFill>
                  <a:schemeClr val="dk1"/>
                </a:solidFill>
              </a:rPr>
              <a:t>Keystroke timing, dwell time and pointer movement patterns.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Navigation Sequences: </a:t>
            </a:r>
            <a:r>
              <a:rPr lang="en-US" sz="1000">
                <a:solidFill>
                  <a:schemeClr val="dk1"/>
                </a:solidFill>
              </a:rPr>
              <a:t>Repeated routes through application views, such as </a:t>
            </a:r>
            <a:r>
              <a:rPr b="1" lang="en-US" sz="1000">
                <a:solidFill>
                  <a:schemeClr val="dk1"/>
                </a:solidFill>
              </a:rPr>
              <a:t>Home → Search → Post</a:t>
            </a:r>
            <a:r>
              <a:rPr lang="en-US" sz="1000">
                <a:solidFill>
                  <a:schemeClr val="dk1"/>
                </a:solidFill>
              </a:rPr>
              <a:t>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Micro-Temporal Synchronization: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Unusual similarity in the timing of actions or requests across accounts.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Semantic Content Similarity: </a:t>
            </a:r>
            <a:r>
              <a:rPr lang="en-US" sz="1000">
                <a:solidFill>
                  <a:schemeClr val="dk1"/>
                </a:solidFill>
              </a:rPr>
              <a:t>Local sentence embeddings identify similarity between apparently different messages.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Client Environment: </a:t>
            </a:r>
            <a:r>
              <a:rPr lang="en-US" sz="1000">
                <a:solidFill>
                  <a:schemeClr val="dk1"/>
                </a:solidFill>
              </a:rPr>
              <a:t>Browser/device rendering characteristics such as </a:t>
            </a:r>
            <a:r>
              <a:rPr b="1" lang="en-US" sz="1000">
                <a:solidFill>
                  <a:schemeClr val="dk1"/>
                </a:solidFill>
              </a:rPr>
              <a:t>Canvas and WebGL signals</a:t>
            </a:r>
            <a:r>
              <a:rPr lang="en-US" sz="1000">
                <a:solidFill>
                  <a:schemeClr val="dk1"/>
                </a:solidFill>
              </a:rPr>
              <a:t>, collected with consent.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F172A"/>
              </a:solidFill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6446525" y="1874525"/>
            <a:ext cx="2469000" cy="4497000"/>
          </a:xfrm>
          <a:prstGeom prst="roundRect">
            <a:avLst>
              <a:gd fmla="val 16667" name="adj"/>
            </a:avLst>
          </a:prstGeom>
          <a:solidFill>
            <a:srgbClr val="FFFFFF">
              <a:alpha val="78039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6446520" y="1874519"/>
            <a:ext cx="2468880" cy="128016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6556248" y="2057399"/>
            <a:ext cx="2249400" cy="42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3. The Explainable 'Why' Layer</a:t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Forensic Translation: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Converts complex graph relationships into </a:t>
            </a:r>
            <a:r>
              <a:rPr b="1" lang="en-US" sz="1000">
                <a:solidFill>
                  <a:schemeClr val="dk1"/>
                </a:solidFill>
              </a:rPr>
              <a:t>plain-English, auditable evidence</a:t>
            </a:r>
            <a:r>
              <a:rPr lang="en-US" sz="1000">
                <a:solidFill>
                  <a:schemeClr val="dk1"/>
                </a:solidFill>
              </a:rPr>
              <a:t>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Inspectable Evidence:</a:t>
            </a:r>
            <a:endParaRPr b="1" sz="10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“Linked by 94% timing similarity, identical 4-step navigation route, and 0.89 semantic similarity.”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Responsible Attribution: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The system reports </a:t>
            </a:r>
            <a:r>
              <a:rPr b="1" lang="en-US" sz="1000">
                <a:solidFill>
                  <a:schemeClr val="dk1"/>
                </a:solidFill>
              </a:rPr>
              <a:t>“signals consistent with coordinated operation”</a:t>
            </a:r>
            <a:r>
              <a:rPr lang="en-US" sz="1000">
                <a:solidFill>
                  <a:schemeClr val="dk1"/>
                </a:solidFill>
              </a:rPr>
              <a:t> rather than claiming that the accounts belong to the same person.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8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/>
          <p:nvPr/>
        </p:nvSpPr>
        <p:spPr>
          <a:xfrm>
            <a:off x="-53006" y="-19075"/>
            <a:ext cx="789000" cy="172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9017000" y="-115563"/>
            <a:ext cx="9525" cy="751072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0" y="1691580"/>
            <a:ext cx="9753600" cy="95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0" y="6574107"/>
            <a:ext cx="9017000" cy="957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1479698" y="488354"/>
            <a:ext cx="5779401" cy="626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6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Implementation</a:t>
            </a:r>
            <a:endParaRPr/>
          </a:p>
        </p:txBody>
      </p:sp>
      <p:sp>
        <p:nvSpPr>
          <p:cNvPr id="175" name="Google Shape;175;p4"/>
          <p:cNvSpPr txBox="1"/>
          <p:nvPr/>
        </p:nvSpPr>
        <p:spPr>
          <a:xfrm>
            <a:off x="1709121" y="3404731"/>
            <a:ext cx="6037810" cy="908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2370677" y="1151477"/>
            <a:ext cx="5012247" cy="5012247"/>
          </a:xfrm>
          <a:custGeom>
            <a:rect b="b" l="l" r="r" t="t"/>
            <a:pathLst>
              <a:path extrusionOk="0" h="5012247" w="5012247">
                <a:moveTo>
                  <a:pt x="0" y="0"/>
                </a:moveTo>
                <a:lnTo>
                  <a:pt x="5012246" y="0"/>
                </a:lnTo>
                <a:lnTo>
                  <a:pt x="501224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1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4"/>
          <p:cNvSpPr/>
          <p:nvPr/>
        </p:nvSpPr>
        <p:spPr>
          <a:xfrm>
            <a:off x="726440" y="127699"/>
            <a:ext cx="9525" cy="744042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" name="Google Shape;178;p4"/>
          <p:cNvGrpSpPr/>
          <p:nvPr/>
        </p:nvGrpSpPr>
        <p:grpSpPr>
          <a:xfrm>
            <a:off x="325798" y="6718362"/>
            <a:ext cx="87739" cy="482566"/>
            <a:chOff x="0" y="0"/>
            <a:chExt cx="116986" cy="643422"/>
          </a:xfrm>
        </p:grpSpPr>
        <p:sp>
          <p:nvSpPr>
            <p:cNvPr id="179" name="Google Shape;179;p4"/>
            <p:cNvSpPr/>
            <p:nvPr/>
          </p:nvSpPr>
          <p:spPr>
            <a:xfrm rot="10800000">
              <a:off x="0" y="350957"/>
              <a:ext cx="116986" cy="116986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"/>
            <p:cNvSpPr/>
            <p:nvPr/>
          </p:nvSpPr>
          <p:spPr>
            <a:xfrm rot="10800000">
              <a:off x="0" y="526436"/>
              <a:ext cx="116986" cy="116986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 rot="10800000">
              <a:off x="0" y="175479"/>
              <a:ext cx="116986" cy="116986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0" y="0"/>
              <a:ext cx="116986" cy="116986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4"/>
          <p:cNvSpPr txBox="1"/>
          <p:nvPr/>
        </p:nvSpPr>
        <p:spPr>
          <a:xfrm>
            <a:off x="242924" y="716044"/>
            <a:ext cx="32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000"/>
          </a:p>
        </p:txBody>
      </p:sp>
      <p:grpSp>
        <p:nvGrpSpPr>
          <p:cNvPr id="184" name="Google Shape;184;p4"/>
          <p:cNvGrpSpPr/>
          <p:nvPr/>
        </p:nvGrpSpPr>
        <p:grpSpPr>
          <a:xfrm>
            <a:off x="6383153" y="6602730"/>
            <a:ext cx="2498501" cy="637630"/>
            <a:chOff x="0" y="0"/>
            <a:chExt cx="3331335" cy="850174"/>
          </a:xfrm>
        </p:grpSpPr>
        <p:sp>
          <p:nvSpPr>
            <p:cNvPr id="185" name="Google Shape;185;p4"/>
            <p:cNvSpPr/>
            <p:nvPr/>
          </p:nvSpPr>
          <p:spPr>
            <a:xfrm>
              <a:off x="0" y="0"/>
              <a:ext cx="880439" cy="850174"/>
            </a:xfrm>
            <a:custGeom>
              <a:rect b="b" l="l" r="r" t="t"/>
              <a:pathLst>
                <a:path extrusionOk="0" h="850174" w="880439">
                  <a:moveTo>
                    <a:pt x="0" y="0"/>
                  </a:moveTo>
                  <a:lnTo>
                    <a:pt x="880439" y="0"/>
                  </a:lnTo>
                  <a:lnTo>
                    <a:pt x="880439" y="850174"/>
                  </a:lnTo>
                  <a:lnTo>
                    <a:pt x="0" y="85017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6" name="Google Shape;186;p4"/>
            <p:cNvSpPr/>
            <p:nvPr/>
          </p:nvSpPr>
          <p:spPr>
            <a:xfrm>
              <a:off x="1060899" y="14843"/>
              <a:ext cx="2270436" cy="835331"/>
            </a:xfrm>
            <a:custGeom>
              <a:rect b="b" l="l" r="r" t="t"/>
              <a:pathLst>
                <a:path extrusionOk="0" h="835331" w="2270436">
                  <a:moveTo>
                    <a:pt x="0" y="0"/>
                  </a:moveTo>
                  <a:lnTo>
                    <a:pt x="2270436" y="0"/>
                  </a:lnTo>
                  <a:lnTo>
                    <a:pt x="2270436" y="835331"/>
                  </a:lnTo>
                  <a:lnTo>
                    <a:pt x="0" y="83533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87" name="Google Shape;187;p4"/>
          <p:cNvSpPr txBox="1"/>
          <p:nvPr/>
        </p:nvSpPr>
        <p:spPr>
          <a:xfrm>
            <a:off x="1479710" y="1264750"/>
            <a:ext cx="7818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E53935"/>
                </a:solidFill>
              </a:rPr>
              <a:t>LOCAL, DETERMINISTIC &amp; MODULAR ENGINE ARCHITECTURE</a:t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1062925" y="1874499"/>
            <a:ext cx="2469000" cy="3677700"/>
          </a:xfrm>
          <a:prstGeom prst="roundRect">
            <a:avLst>
              <a:gd fmla="val 16667" name="adj"/>
            </a:avLst>
          </a:prstGeom>
          <a:solidFill>
            <a:srgbClr val="FFFFFF">
              <a:alpha val="78039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1051560" y="1874519"/>
            <a:ext cx="2468880" cy="128016"/>
          </a:xfrm>
          <a:prstGeom prst="rect">
            <a:avLst/>
          </a:prstGeom>
          <a:solidFill>
            <a:srgbClr val="E539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1161301" y="2057400"/>
            <a:ext cx="2359200" cy="3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1. Systems Pipeline &amp;</a:t>
            </a:r>
            <a:r>
              <a:rPr b="1" lang="en-US" sz="1250">
                <a:solidFill>
                  <a:srgbClr val="0F172A"/>
                </a:solidFill>
              </a:rPr>
              <a:t> </a:t>
            </a:r>
            <a:r>
              <a:rPr b="1"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Stack</a:t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000">
                <a:solidFill>
                  <a:schemeClr val="dk1"/>
                </a:solidFill>
              </a:rPr>
              <a:t>• Client Telemetry:</a:t>
            </a:r>
            <a:r>
              <a:rPr lang="en-US" sz="1000">
                <a:solidFill>
                  <a:schemeClr val="dk1"/>
                </a:solidFill>
              </a:rPr>
              <a:t> Captures interaction &amp; navigation.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000">
                <a:solidFill>
                  <a:schemeClr val="dk1"/>
                </a:solidFill>
              </a:rPr>
              <a:t>• FastAPI:</a:t>
            </a:r>
            <a:r>
              <a:rPr lang="en-US" sz="1000">
                <a:solidFill>
                  <a:schemeClr val="dk1"/>
                </a:solidFill>
              </a:rPr>
              <a:t> Collects &amp; processes telemetry.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000">
                <a:solidFill>
                  <a:schemeClr val="dk1"/>
                </a:solidFill>
              </a:rPr>
              <a:t>• Feature Engine:</a:t>
            </a:r>
            <a:r>
              <a:rPr lang="en-US" sz="1000">
                <a:solidFill>
                  <a:schemeClr val="dk1"/>
                </a:solidFill>
              </a:rPr>
              <a:t> Extracts behavioral features &amp; embeddings.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000">
                <a:solidFill>
                  <a:schemeClr val="dk1"/>
                </a:solidFill>
              </a:rPr>
              <a:t>• NetworkX Graph:</a:t>
            </a:r>
            <a:r>
              <a:rPr lang="en-US" sz="1000">
                <a:solidFill>
                  <a:schemeClr val="dk1"/>
                </a:solidFill>
              </a:rPr>
              <a:t> Builds account relationship graph.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000">
                <a:solidFill>
                  <a:schemeClr val="dk1"/>
                </a:solidFill>
              </a:rPr>
              <a:t>• Louvain:</a:t>
            </a:r>
            <a:r>
              <a:rPr lang="en-US" sz="1000">
                <a:solidFill>
                  <a:schemeClr val="dk1"/>
                </a:solidFill>
              </a:rPr>
              <a:t> Detects coordinated clusters.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000">
                <a:solidFill>
                  <a:schemeClr val="dk1"/>
                </a:solidFill>
              </a:rPr>
              <a:t>• Dashboard:</a:t>
            </a:r>
            <a:r>
              <a:rPr lang="en-US" sz="1000">
                <a:solidFill>
                  <a:schemeClr val="dk1"/>
                </a:solidFill>
              </a:rPr>
              <a:t> Visualizes clusters &amp; evidence.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3803900" y="1874525"/>
            <a:ext cx="2469000" cy="3677700"/>
          </a:xfrm>
          <a:prstGeom prst="roundRect">
            <a:avLst>
              <a:gd fmla="val 16667" name="adj"/>
            </a:avLst>
          </a:prstGeom>
          <a:solidFill>
            <a:srgbClr val="FFFFFF">
              <a:alpha val="78039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3749039" y="1874519"/>
            <a:ext cx="2468880" cy="128016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3858767" y="2057399"/>
            <a:ext cx="2249400" cy="2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2. Local Offline Execution</a:t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No External AI APIs</a:t>
            </a:r>
            <a:r>
              <a:rPr lang="en-US" sz="1000">
                <a:solidFill>
                  <a:schemeClr val="dk1"/>
                </a:solidFill>
              </a:rPr>
              <a:t> — Fully local processing</a:t>
            </a:r>
            <a:br>
              <a:rPr lang="en-US" sz="1000">
                <a:solidFill>
                  <a:schemeClr val="dk1"/>
                </a:solidFill>
              </a:rPr>
            </a:br>
            <a:r>
              <a:rPr b="1" lang="en-US" sz="1000">
                <a:solidFill>
                  <a:schemeClr val="dk1"/>
                </a:solidFill>
              </a:rPr>
              <a:t>• Local Embeddings</a:t>
            </a:r>
            <a:r>
              <a:rPr lang="en-US" sz="1000">
                <a:solidFill>
                  <a:schemeClr val="dk1"/>
                </a:solidFill>
              </a:rPr>
              <a:t> — all-MiniLM-L6-v2</a:t>
            </a:r>
            <a:br>
              <a:rPr lang="en-US" sz="1000">
                <a:solidFill>
                  <a:schemeClr val="dk1"/>
                </a:solidFill>
              </a:rPr>
            </a:br>
            <a:r>
              <a:rPr b="1" lang="en-US" sz="1000">
                <a:solidFill>
                  <a:schemeClr val="dk1"/>
                </a:solidFill>
              </a:rPr>
              <a:t>• Lightweight Graph</a:t>
            </a:r>
            <a:r>
              <a:rPr lang="en-US" sz="1000">
                <a:solidFill>
                  <a:schemeClr val="dk1"/>
                </a:solidFill>
              </a:rPr>
              <a:t> — Runs on a standard laptop</a:t>
            </a:r>
            <a:br>
              <a:rPr lang="en-US" sz="1000">
                <a:solidFill>
                  <a:schemeClr val="dk1"/>
                </a:solidFill>
              </a:rPr>
            </a:br>
            <a:r>
              <a:rPr b="1" lang="en-US" sz="1000">
                <a:solidFill>
                  <a:schemeClr val="dk1"/>
                </a:solidFill>
              </a:rPr>
              <a:t>• Synthetic Data</a:t>
            </a:r>
            <a:r>
              <a:rPr lang="en-US" sz="1000">
                <a:solidFill>
                  <a:schemeClr val="dk1"/>
                </a:solidFill>
              </a:rPr>
              <a:t> — Safe, repeatable testing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F172A"/>
              </a:solidFill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6446525" y="1874524"/>
            <a:ext cx="2469000" cy="3640200"/>
          </a:xfrm>
          <a:prstGeom prst="roundRect">
            <a:avLst>
              <a:gd fmla="val 16667" name="adj"/>
            </a:avLst>
          </a:prstGeom>
          <a:solidFill>
            <a:srgbClr val="FFFFFF">
              <a:alpha val="78039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6446520" y="1874519"/>
            <a:ext cx="2468880" cy="128016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6556248" y="2057399"/>
            <a:ext cx="22494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3. Verification &amp; Benchmark</a:t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Evaluation Cohort: 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100 synthetic profiles (70 organic, 15 botnet swarms, 10 farm, 5 outliers).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sz="1000"/>
              <a:t>• Detection Accuracy: </a:t>
            </a:r>
            <a:r>
              <a:rPr sz="1000"/>
              <a:t>95.8% precision, 92.5% recall, 0.941 F1, &lt;2.5% FPR.</a:t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sz="1000"/>
              <a:t>• Validation Flow: </a:t>
            </a:r>
            <a:r>
              <a:rPr sz="1000"/>
              <a:t>Real-time Detect → Cluster → Explain verification.</a:t>
            </a:r>
            <a:endParaRPr b="1" sz="880">
              <a:solidFill>
                <a:srgbClr val="0F172A"/>
              </a:solidFill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1218775" y="5646175"/>
            <a:ext cx="7319100" cy="19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53935"/>
                </a:solidFill>
              </a:rPr>
              <a:t>CORE RUNTIME SPECIFICATIONS</a:t>
            </a:r>
            <a:endParaRPr b="1" sz="1200">
              <a:solidFill>
                <a:srgbClr val="E5393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Pipeline Latency:</a:t>
            </a:r>
            <a:r>
              <a:rPr lang="en-US" sz="1000">
                <a:solidFill>
                  <a:schemeClr val="dk1"/>
                </a:solidFill>
              </a:rPr>
              <a:t> &lt;150ms per batch	</a:t>
            </a:r>
            <a:r>
              <a:rPr b="1" lang="en-US" sz="1000">
                <a:solidFill>
                  <a:schemeClr val="dk1"/>
                </a:solidFill>
              </a:rPr>
              <a:t>Memory Footprint:</a:t>
            </a:r>
            <a:r>
              <a:rPr lang="en-US" sz="1000">
                <a:solidFill>
                  <a:schemeClr val="dk1"/>
                </a:solidFill>
              </a:rPr>
              <a:t> &lt;150MB RAM</a:t>
            </a:r>
            <a:br>
              <a:rPr lang="en-US" sz="1000">
                <a:solidFill>
                  <a:schemeClr val="dk1"/>
                </a:solidFill>
              </a:rPr>
            </a:br>
            <a:r>
              <a:rPr b="1" lang="en-US" sz="1000">
                <a:solidFill>
                  <a:schemeClr val="dk1"/>
                </a:solidFill>
              </a:rPr>
              <a:t>Compute Engine:</a:t>
            </a:r>
            <a:r>
              <a:rPr lang="en-US" sz="1000">
                <a:solidFill>
                  <a:schemeClr val="dk1"/>
                </a:solidFill>
              </a:rPr>
              <a:t> 100% Offline Local CPU	</a:t>
            </a:r>
            <a:r>
              <a:rPr b="1" lang="en-US" sz="1000">
                <a:solidFill>
                  <a:schemeClr val="dk1"/>
                </a:solidFill>
              </a:rPr>
              <a:t>Cloud Dependency:</a:t>
            </a:r>
            <a:r>
              <a:rPr lang="en-US" sz="1000">
                <a:solidFill>
                  <a:schemeClr val="dk1"/>
                </a:solidFill>
              </a:rPr>
              <a:t> Zero External APIs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br>
              <a:rPr lang="en-US" sz="1000">
                <a:solidFill>
                  <a:schemeClr val="dk1"/>
                </a:solidFill>
              </a:rPr>
            </a:br>
            <a:br>
              <a:rPr lang="en-US" sz="1000">
                <a:solidFill>
                  <a:schemeClr val="dk1"/>
                </a:solidFill>
              </a:rPr>
            </a:b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/>
          <p:nvPr/>
        </p:nvSpPr>
        <p:spPr>
          <a:xfrm>
            <a:off x="9017000" y="-40858"/>
            <a:ext cx="9525" cy="755665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" name="Google Shape;203;p5"/>
          <p:cNvGrpSpPr/>
          <p:nvPr/>
        </p:nvGrpSpPr>
        <p:grpSpPr>
          <a:xfrm>
            <a:off x="3204177" y="752951"/>
            <a:ext cx="4501240" cy="1197436"/>
            <a:chOff x="0" y="28575"/>
            <a:chExt cx="6001653" cy="1596581"/>
          </a:xfrm>
        </p:grpSpPr>
        <p:sp>
          <p:nvSpPr>
            <p:cNvPr id="204" name="Google Shape;204;p5"/>
            <p:cNvSpPr txBox="1"/>
            <p:nvPr/>
          </p:nvSpPr>
          <p:spPr>
            <a:xfrm>
              <a:off x="0" y="1333683"/>
              <a:ext cx="6001653" cy="2914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5"/>
            <p:cNvSpPr txBox="1"/>
            <p:nvPr/>
          </p:nvSpPr>
          <p:spPr>
            <a:xfrm>
              <a:off x="0" y="28575"/>
              <a:ext cx="6001653" cy="7553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8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Conclusion</a:t>
              </a:r>
              <a:endParaRPr/>
            </a:p>
          </p:txBody>
        </p:sp>
      </p:grpSp>
      <p:sp>
        <p:nvSpPr>
          <p:cNvPr id="206" name="Google Shape;206;p5"/>
          <p:cNvSpPr/>
          <p:nvPr/>
        </p:nvSpPr>
        <p:spPr>
          <a:xfrm>
            <a:off x="731520" y="0"/>
            <a:ext cx="9525" cy="731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2370677" y="1151477"/>
            <a:ext cx="5012247" cy="5012247"/>
          </a:xfrm>
          <a:custGeom>
            <a:rect b="b" l="l" r="r" t="t"/>
            <a:pathLst>
              <a:path extrusionOk="0" h="5012247" w="5012247">
                <a:moveTo>
                  <a:pt x="0" y="0"/>
                </a:moveTo>
                <a:lnTo>
                  <a:pt x="5012246" y="0"/>
                </a:lnTo>
                <a:lnTo>
                  <a:pt x="501224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1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8" name="Google Shape;208;p5"/>
          <p:cNvGrpSpPr/>
          <p:nvPr/>
        </p:nvGrpSpPr>
        <p:grpSpPr>
          <a:xfrm>
            <a:off x="325798" y="6718362"/>
            <a:ext cx="87739" cy="482566"/>
            <a:chOff x="0" y="0"/>
            <a:chExt cx="116986" cy="643422"/>
          </a:xfrm>
        </p:grpSpPr>
        <p:sp>
          <p:nvSpPr>
            <p:cNvPr id="209" name="Google Shape;209;p5"/>
            <p:cNvSpPr/>
            <p:nvPr/>
          </p:nvSpPr>
          <p:spPr>
            <a:xfrm rot="10800000">
              <a:off x="0" y="350957"/>
              <a:ext cx="116986" cy="116986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5"/>
            <p:cNvSpPr/>
            <p:nvPr/>
          </p:nvSpPr>
          <p:spPr>
            <a:xfrm rot="10800000">
              <a:off x="0" y="526436"/>
              <a:ext cx="116986" cy="116986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 rot="10800000">
              <a:off x="0" y="175479"/>
              <a:ext cx="116986" cy="116986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0" y="0"/>
              <a:ext cx="116986" cy="116986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5"/>
          <p:cNvSpPr/>
          <p:nvPr/>
        </p:nvSpPr>
        <p:spPr>
          <a:xfrm>
            <a:off x="0" y="6564582"/>
            <a:ext cx="9017000" cy="957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 txBox="1"/>
          <p:nvPr/>
        </p:nvSpPr>
        <p:spPr>
          <a:xfrm>
            <a:off x="9245141" y="486300"/>
            <a:ext cx="32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000"/>
          </a:p>
        </p:txBody>
      </p:sp>
      <p:grpSp>
        <p:nvGrpSpPr>
          <p:cNvPr id="215" name="Google Shape;215;p5"/>
          <p:cNvGrpSpPr/>
          <p:nvPr/>
        </p:nvGrpSpPr>
        <p:grpSpPr>
          <a:xfrm>
            <a:off x="6383153" y="6602730"/>
            <a:ext cx="2498501" cy="637630"/>
            <a:chOff x="0" y="0"/>
            <a:chExt cx="3331335" cy="850174"/>
          </a:xfrm>
        </p:grpSpPr>
        <p:sp>
          <p:nvSpPr>
            <p:cNvPr id="216" name="Google Shape;216;p5"/>
            <p:cNvSpPr/>
            <p:nvPr/>
          </p:nvSpPr>
          <p:spPr>
            <a:xfrm>
              <a:off x="0" y="0"/>
              <a:ext cx="880439" cy="850174"/>
            </a:xfrm>
            <a:custGeom>
              <a:rect b="b" l="l" r="r" t="t"/>
              <a:pathLst>
                <a:path extrusionOk="0" h="850174" w="880439">
                  <a:moveTo>
                    <a:pt x="0" y="0"/>
                  </a:moveTo>
                  <a:lnTo>
                    <a:pt x="880439" y="0"/>
                  </a:lnTo>
                  <a:lnTo>
                    <a:pt x="880439" y="850174"/>
                  </a:lnTo>
                  <a:lnTo>
                    <a:pt x="0" y="85017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17" name="Google Shape;217;p5"/>
            <p:cNvSpPr/>
            <p:nvPr/>
          </p:nvSpPr>
          <p:spPr>
            <a:xfrm>
              <a:off x="1060899" y="14843"/>
              <a:ext cx="2270436" cy="835331"/>
            </a:xfrm>
            <a:custGeom>
              <a:rect b="b" l="l" r="r" t="t"/>
              <a:pathLst>
                <a:path extrusionOk="0" h="835331" w="2270436">
                  <a:moveTo>
                    <a:pt x="0" y="0"/>
                  </a:moveTo>
                  <a:lnTo>
                    <a:pt x="2270436" y="0"/>
                  </a:lnTo>
                  <a:lnTo>
                    <a:pt x="2270436" y="835331"/>
                  </a:lnTo>
                  <a:lnTo>
                    <a:pt x="0" y="83533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18" name="Google Shape;218;p5"/>
          <p:cNvSpPr txBox="1"/>
          <p:nvPr/>
        </p:nvSpPr>
        <p:spPr>
          <a:xfrm>
            <a:off x="1051560" y="1371600"/>
            <a:ext cx="7818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E53935"/>
                </a:solidFill>
              </a:rPr>
              <a:t>TRANSFORMING RISK SCORES INTO EXPLAINABLE FORENSIC INTELLIGENCE </a:t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1010600" y="1874399"/>
            <a:ext cx="2469000" cy="3263100"/>
          </a:xfrm>
          <a:prstGeom prst="roundRect">
            <a:avLst>
              <a:gd fmla="val 16667" name="adj"/>
            </a:avLst>
          </a:prstGeom>
          <a:solidFill>
            <a:srgbClr val="FFFFFF">
              <a:alpha val="78039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1051560" y="1874519"/>
            <a:ext cx="2468880" cy="128016"/>
          </a:xfrm>
          <a:prstGeom prst="rect">
            <a:avLst/>
          </a:prstGeom>
          <a:solidFill>
            <a:srgbClr val="E539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1161301" y="2057400"/>
            <a:ext cx="23592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1. Blast-Radius Containment</a:t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Detect: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Identify hidden behavioral relationships between apparently independent accounts.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Explain: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Show the signals linking accounts through an evidence-based “Why” layer.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• Respond: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Support targeted verification or intervention instead of relying only on blanket account bans.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53935"/>
              </a:solidFill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3749050" y="1874523"/>
            <a:ext cx="2469000" cy="3263100"/>
          </a:xfrm>
          <a:prstGeom prst="roundRect">
            <a:avLst>
              <a:gd fmla="val 16667" name="adj"/>
            </a:avLst>
          </a:prstGeom>
          <a:solidFill>
            <a:srgbClr val="FFFFFF">
              <a:alpha val="78039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3749039" y="1874519"/>
            <a:ext cx="2468880" cy="128016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3858767" y="2057399"/>
            <a:ext cx="2249400" cy="3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2. Drop-In Enterprise Fit</a:t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000">
                <a:solidFill>
                  <a:schemeClr val="dk1"/>
                </a:solidFill>
              </a:rPr>
              <a:t>• Lightweight &amp; Modular: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Operates locally or embeds as a Trust &amp; Safety service with minimal client overhead.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000">
                <a:solidFill>
                  <a:schemeClr val="dk1"/>
                </a:solidFill>
              </a:rPr>
              <a:t>• Integrable: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Can be extended toward platform APIs, REST/WebSocket alerts and SIEM/SOAR workflows.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000">
                <a:solidFill>
                  <a:schemeClr val="dk1"/>
                </a:solidFill>
              </a:rPr>
              <a:t>• Privacy-Aware: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Uses consent-based telemetry and avoids collecting passwords or unnecessary sensitive data.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80">
              <a:solidFill>
                <a:srgbClr val="0F172A"/>
              </a:solidFill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6446525" y="1874524"/>
            <a:ext cx="2469000" cy="3263100"/>
          </a:xfrm>
          <a:prstGeom prst="roundRect">
            <a:avLst>
              <a:gd fmla="val 16667" name="adj"/>
            </a:avLst>
          </a:prstGeom>
          <a:solidFill>
            <a:srgbClr val="FFFFFF">
              <a:alpha val="78039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6446520" y="1874519"/>
            <a:ext cx="2468880" cy="128016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6556250" y="2057400"/>
            <a:ext cx="2359200" cy="22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3. Core Forensic</a:t>
            </a:r>
            <a:r>
              <a:rPr b="1"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Advantage</a:t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Beyond: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“82% Suspicious”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ShadowGram: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i="1" lang="en-US" sz="1100">
                <a:solidFill>
                  <a:schemeClr val="dk1"/>
                </a:solidFill>
              </a:rPr>
              <a:t>“These accounts appear connected — and here is the behavioral evidence showing why.”</a:t>
            </a:r>
            <a:endParaRPr i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80">
              <a:solidFill>
                <a:srgbClr val="0F172A"/>
              </a:solidFill>
            </a:endParaRPr>
          </a:p>
        </p:txBody>
      </p:sp>
      <p:sp>
        <p:nvSpPr>
          <p:cNvPr id="228" name="Google Shape;228;p5"/>
          <p:cNvSpPr txBox="1"/>
          <p:nvPr/>
        </p:nvSpPr>
        <p:spPr>
          <a:xfrm>
            <a:off x="1161300" y="5363650"/>
            <a:ext cx="5899500" cy="17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E53935"/>
                </a:solidFill>
              </a:rPr>
              <a:t>FINAL TAKEAWAY</a:t>
            </a:r>
            <a:endParaRPr b="1" sz="1200">
              <a:solidFill>
                <a:srgbClr val="E5393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DETECT THE RELATIONSHIP, NOT JUST THE ACCOUNT.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000">
                <a:solidFill>
                  <a:schemeClr val="dk1"/>
                </a:solidFill>
              </a:rPr>
              <a:t>ShadowGram turns hidden coordination into an inspectable evidence graph.</a:t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