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753600" cy="7315200"/>
  <p:notesSz cx="6858000" cy="9144000"/>
  <p:embeddedFontLst>
    <p:embeddedFont>
      <p:font typeface="Calibri" panose="020F0502020204030204" pitchFamily="34" charset="0"/>
      <p:regular r:id="rId7"/>
      <p:bold r:id="rId8"/>
      <p:italic r:id="rId9"/>
      <p:boldItalic r:id="rId10"/>
    </p:embeddedFont>
    <p:embeddedFont>
      <p:font typeface="Computer Says No" pitchFamily="2" charset="0"/>
      <p:regular r:id="rId11"/>
    </p:embeddedFont>
    <p:embeddedFont>
      <p:font typeface="Montserrat" pitchFamily="2" charset="0"/>
      <p:regular r:id="rId12"/>
    </p:embeddedFont>
    <p:embeddedFont>
      <p:font typeface="Montserrat Bold"/>
      <p:regular r:id="rId13"/>
    </p:embeddedFont>
    <p:embeddedFont>
      <p:font typeface="Montserrat Light" panose="00000400000000000000" pitchFamily="2" charset="0"/>
      <p:regular r:id="rId14"/>
    </p:embeddedFont>
    <p:embeddedFont>
      <p:font typeface="Roboto" panose="02000000000000000000" pitchFamily="2" charset="0"/>
      <p:regular r:id="rId15"/>
    </p:embeddedFont>
    <p:embeddedFont>
      <p:font typeface="Roboto Bold" panose="02000000000000000000" pitchFamily="2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81" d="100"/>
          <a:sy n="81" d="100"/>
        </p:scale>
        <p:origin x="134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font" Target="fonts/font3.fntdata"/><Relationship Id="rId10" Type="http://schemas.openxmlformats.org/officeDocument/2006/relationships/font" Target="fonts/font4.fntdata"/><Relationship Id="rId11" Type="http://schemas.openxmlformats.org/officeDocument/2006/relationships/font" Target="fonts/font5.fntdata"/><Relationship Id="rId12" Type="http://schemas.openxmlformats.org/officeDocument/2006/relationships/font" Target="fonts/font6.fntdata"/><Relationship Id="rId13" Type="http://schemas.openxmlformats.org/officeDocument/2006/relationships/font" Target="fonts/font7.fntdata"/><Relationship Id="rId14" Type="http://schemas.openxmlformats.org/officeDocument/2006/relationships/font" Target="fonts/font8.fntdata"/><Relationship Id="rId15" Type="http://schemas.openxmlformats.org/officeDocument/2006/relationships/font" Target="fonts/font9.fntdata"/><Relationship Id="rId16" Type="http://schemas.openxmlformats.org/officeDocument/2006/relationships/font" Target="fonts/font10.fntdata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31520" y="0"/>
            <a:ext cx="9525" cy="7666245"/>
          </a:xfrm>
          <a:prstGeom prst="rect">
            <a:avLst/>
          </a:prstGeom>
          <a:solidFill>
            <a:srgbClr val="000000"/>
          </a:solidFill>
        </p:spPr>
      </p:sp>
      <p:grpSp>
        <p:nvGrpSpPr>
          <p:cNvPr id="3" name="Group 3"/>
          <p:cNvGrpSpPr/>
          <p:nvPr/>
        </p:nvGrpSpPr>
        <p:grpSpPr>
          <a:xfrm>
            <a:off x="325798" y="6669405"/>
            <a:ext cx="87739" cy="482566"/>
            <a:chOff x="0" y="0"/>
            <a:chExt cx="116986" cy="643422"/>
          </a:xfrm>
        </p:grpSpPr>
        <p:grpSp>
          <p:nvGrpSpPr>
            <p:cNvPr id="4" name="Group 4"/>
            <p:cNvGrpSpPr>
              <a:grpSpLocks noChangeAspect="1"/>
            </p:cNvGrpSpPr>
            <p:nvPr/>
          </p:nvGrpSpPr>
          <p:grpSpPr>
            <a:xfrm rot="-10800000">
              <a:off x="0" y="350957"/>
              <a:ext cx="116986" cy="116986"/>
              <a:chOff x="0" y="0"/>
              <a:chExt cx="6355080" cy="635508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6" name="Group 6"/>
            <p:cNvGrpSpPr>
              <a:grpSpLocks noChangeAspect="1"/>
            </p:cNvGrpSpPr>
            <p:nvPr/>
          </p:nvGrpSpPr>
          <p:grpSpPr>
            <a:xfrm rot="-10800000">
              <a:off x="0" y="526436"/>
              <a:ext cx="116986" cy="116986"/>
              <a:chOff x="0" y="0"/>
              <a:chExt cx="6355080" cy="635508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8" name="Group 8"/>
            <p:cNvGrpSpPr>
              <a:grpSpLocks noChangeAspect="1"/>
            </p:cNvGrpSpPr>
            <p:nvPr/>
          </p:nvGrpSpPr>
          <p:grpSpPr>
            <a:xfrm rot="-10800000">
              <a:off x="0" y="175479"/>
              <a:ext cx="116986" cy="116986"/>
              <a:chOff x="0" y="0"/>
              <a:chExt cx="6355080" cy="635508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10" name="Group 10"/>
            <p:cNvGrpSpPr/>
            <p:nvPr/>
          </p:nvGrpSpPr>
          <p:grpSpPr>
            <a:xfrm>
              <a:off x="0" y="0"/>
              <a:ext cx="116986" cy="116986"/>
              <a:chOff x="0" y="0"/>
              <a:chExt cx="6350000" cy="6350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</p:grpSp>
      <p:sp>
        <p:nvSpPr>
          <p:cNvPr id="12" name="AutoShape 12"/>
          <p:cNvSpPr/>
          <p:nvPr/>
        </p:nvSpPr>
        <p:spPr>
          <a:xfrm>
            <a:off x="9012555" y="0"/>
            <a:ext cx="9525" cy="7666245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3" name="AutoShape 13"/>
          <p:cNvSpPr/>
          <p:nvPr/>
        </p:nvSpPr>
        <p:spPr>
          <a:xfrm>
            <a:off x="-186703" y="4783112"/>
            <a:ext cx="10038632" cy="2362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4" name="Freeform 14"/>
          <p:cNvSpPr/>
          <p:nvPr/>
        </p:nvSpPr>
        <p:spPr>
          <a:xfrm>
            <a:off x="2370677" y="1151477"/>
            <a:ext cx="5012247" cy="5012247"/>
          </a:xfrm>
          <a:custGeom>
            <a:avLst/>
            <a:gdLst/>
            <a:ahLst/>
            <a:cxnLst/>
            <a:rect l="l" t="t" r="r" b="b"/>
            <a:pathLst>
              <a:path w="5012247" h="5012247">
                <a:moveTo>
                  <a:pt x="0" y="0"/>
                </a:moveTo>
                <a:lnTo>
                  <a:pt x="5012246" y="0"/>
                </a:lnTo>
                <a:lnTo>
                  <a:pt x="5012246" y="5012246"/>
                </a:lnTo>
                <a:lnTo>
                  <a:pt x="0" y="50122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6455032" y="93890"/>
            <a:ext cx="660329" cy="637630"/>
          </a:xfrm>
          <a:custGeom>
            <a:avLst/>
            <a:gdLst/>
            <a:ahLst/>
            <a:cxnLst/>
            <a:rect l="l" t="t" r="r" b="b"/>
            <a:pathLst>
              <a:path w="660329" h="637630">
                <a:moveTo>
                  <a:pt x="0" y="0"/>
                </a:moveTo>
                <a:lnTo>
                  <a:pt x="660329" y="0"/>
                </a:lnTo>
                <a:lnTo>
                  <a:pt x="660329" y="637630"/>
                </a:lnTo>
                <a:lnTo>
                  <a:pt x="0" y="6376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6" name="AutoShape 16"/>
          <p:cNvSpPr/>
          <p:nvPr/>
        </p:nvSpPr>
        <p:spPr>
          <a:xfrm>
            <a:off x="0" y="770429"/>
            <a:ext cx="9017000" cy="9573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7" name="Freeform 17"/>
          <p:cNvSpPr/>
          <p:nvPr/>
        </p:nvSpPr>
        <p:spPr>
          <a:xfrm>
            <a:off x="7192423" y="105022"/>
            <a:ext cx="1702827" cy="626498"/>
          </a:xfrm>
          <a:custGeom>
            <a:avLst/>
            <a:gdLst/>
            <a:ahLst/>
            <a:cxnLst/>
            <a:rect l="l" t="t" r="r" b="b"/>
            <a:pathLst>
              <a:path w="1702827" h="626498">
                <a:moveTo>
                  <a:pt x="0" y="0"/>
                </a:moveTo>
                <a:lnTo>
                  <a:pt x="1702827" y="0"/>
                </a:lnTo>
                <a:lnTo>
                  <a:pt x="1702827" y="626498"/>
                </a:lnTo>
                <a:lnTo>
                  <a:pt x="0" y="6264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1390205" y="1827655"/>
            <a:ext cx="7177893" cy="1862020"/>
            <a:chOff x="0" y="0"/>
            <a:chExt cx="9570524" cy="2482693"/>
          </a:xfrm>
        </p:grpSpPr>
        <p:sp>
          <p:nvSpPr>
            <p:cNvPr id="19" name="TextBox 19"/>
            <p:cNvSpPr txBox="1"/>
            <p:nvPr/>
          </p:nvSpPr>
          <p:spPr>
            <a:xfrm>
              <a:off x="0" y="104775"/>
              <a:ext cx="9570524" cy="13167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sz="4400" b="1">
                  <a:solidFill>
                    <a:srgbClr val="0F172A"/>
                  </a:solidFill>
                  <a:latin typeface="Arial"/>
                </a:rPr>
                <a:t>SHADOWGRAM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2139170"/>
              <a:ext cx="9570524" cy="3435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sz="1350" b="1">
                  <a:solidFill>
                    <a:srgbClr val="475569"/>
                  </a:solidFill>
                  <a:latin typeface="Arial"/>
                </a:rPr>
                <a:t>Behavioral Graph Detection of Coordinated AI-Agent Swarms &amp; Synthetic Persona Rings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005840" y="4983480"/>
            <a:ext cx="3840480" cy="50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sz="1400" b="1">
                <a:solidFill>
                  <a:srgbClr val="E53935"/>
                </a:solidFill>
                <a:latin typeface="Arial"/>
              </a:rPr>
              <a:t>TEAM: </a:t>
            </a:r>
            <a:r>
              <a:rPr sz="1400" b="1">
                <a:solidFill>
                  <a:srgbClr val="0F172A"/>
                </a:solidFill>
                <a:latin typeface="Arial"/>
              </a:rPr>
              <a:t>TEAM SHADOWGRAM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05840" y="5623560"/>
            <a:ext cx="3840480" cy="777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sz="1000" b="1">
                <a:solidFill>
                  <a:srgbClr val="475569"/>
                </a:solidFill>
                <a:latin typeface="Arial"/>
              </a:rPr>
              <a:t>INSTITUTION:
</a:t>
            </a:r>
            <a:r>
              <a:rPr sz="1100">
                <a:solidFill>
                  <a:srgbClr val="0F172A"/>
                </a:solidFill>
                <a:latin typeface="Arial"/>
              </a:rPr>
              <a:t>Jyothi Engineering College (Autonomous)
Cheruthuruthy, Thrissur, Kerala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029200" y="4892040"/>
            <a:ext cx="3886200" cy="164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E53935"/>
                </a:solidFill>
                <a:latin typeface="Arial"/>
              </a:rPr>
              <a:t>TEAM ROSTER (2–4 MEMBERS):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50" b="1">
                <a:solidFill>
                  <a:srgbClr val="0F172A"/>
                </a:solidFill>
                <a:latin typeface="Arial"/>
              </a:rPr>
              <a:t>1. Aiswarya Kallayil Rajesh (Lead) — </a:t>
            </a:r>
            <a:r>
              <a:rPr sz="900">
                <a:solidFill>
                  <a:srgbClr val="475569"/>
                </a:solidFill>
                <a:latin typeface="Arial"/>
              </a:rPr>
              <a:t>B.Tech, AI &amp; Data Science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50" b="1">
                <a:solidFill>
                  <a:srgbClr val="0F172A"/>
                </a:solidFill>
                <a:latin typeface="Arial"/>
              </a:rPr>
              <a:t>2. [Team Member 2 Name] — </a:t>
            </a:r>
            <a:r>
              <a:rPr sz="900">
                <a:solidFill>
                  <a:srgbClr val="475569"/>
                </a:solidFill>
                <a:latin typeface="Arial"/>
              </a:rPr>
              <a:t>B.Tech, Computer Science / AI &amp; DS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50" b="1">
                <a:solidFill>
                  <a:srgbClr val="0F172A"/>
                </a:solidFill>
                <a:latin typeface="Arial"/>
              </a:rPr>
              <a:t>3. [Team Member 3 Name] — </a:t>
            </a:r>
            <a:r>
              <a:rPr sz="900">
                <a:solidFill>
                  <a:srgbClr val="475569"/>
                </a:solidFill>
                <a:latin typeface="Arial"/>
              </a:rPr>
              <a:t>B.Tech, Computer Science / Cyber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50" b="1">
                <a:solidFill>
                  <a:srgbClr val="0F172A"/>
                </a:solidFill>
                <a:latin typeface="Arial"/>
              </a:rPr>
              <a:t>4. [Team Member 4 Name] — </a:t>
            </a:r>
            <a:r>
              <a:rPr sz="900">
                <a:solidFill>
                  <a:srgbClr val="475569"/>
                </a:solidFill>
                <a:latin typeface="Arial"/>
              </a:rPr>
              <a:t>B.Tech, Electronics / 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4160520"/>
            <a:ext cx="5303520" cy="347472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 TRACK 04: SYNTHETIC IDENTITY &amp; KYC • TRACK 05: OPEN FRAUD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017000" y="0"/>
            <a:ext cx="9525" cy="748583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" name="TextBox 3"/>
          <p:cNvSpPr txBox="1"/>
          <p:nvPr/>
        </p:nvSpPr>
        <p:spPr>
          <a:xfrm>
            <a:off x="1051560" y="438912"/>
            <a:ext cx="777240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sz="3200" b="1">
                <a:solidFill>
                  <a:srgbClr val="0F172A"/>
                </a:solidFill>
                <a:latin typeface="Montserrat"/>
              </a:rPr>
              <a:t>What is being Faked/Exploited?</a:t>
            </a:r>
          </a:p>
        </p:txBody>
      </p:sp>
      <p:sp>
        <p:nvSpPr>
          <p:cNvPr id="4" name="AutoShape 4"/>
          <p:cNvSpPr/>
          <p:nvPr/>
        </p:nvSpPr>
        <p:spPr>
          <a:xfrm>
            <a:off x="-2787" y="0"/>
            <a:ext cx="738752" cy="168623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5" name="AutoShape 5"/>
          <p:cNvSpPr/>
          <p:nvPr/>
        </p:nvSpPr>
        <p:spPr>
          <a:xfrm>
            <a:off x="726440" y="127699"/>
            <a:ext cx="9525" cy="7440426"/>
          </a:xfrm>
          <a:prstGeom prst="rect">
            <a:avLst/>
          </a:prstGeom>
          <a:solidFill>
            <a:srgbClr val="000000"/>
          </a:solidFill>
        </p:spPr>
      </p:sp>
      <p:grpSp>
        <p:nvGrpSpPr>
          <p:cNvPr id="6" name="Group 6"/>
          <p:cNvGrpSpPr/>
          <p:nvPr/>
        </p:nvGrpSpPr>
        <p:grpSpPr>
          <a:xfrm>
            <a:off x="325798" y="6680262"/>
            <a:ext cx="87739" cy="482566"/>
            <a:chOff x="0" y="0"/>
            <a:chExt cx="116986" cy="643422"/>
          </a:xfrm>
        </p:grpSpPr>
        <p:grpSp>
          <p:nvGrpSpPr>
            <p:cNvPr id="7" name="Group 7"/>
            <p:cNvGrpSpPr>
              <a:grpSpLocks noChangeAspect="1"/>
            </p:cNvGrpSpPr>
            <p:nvPr/>
          </p:nvGrpSpPr>
          <p:grpSpPr>
            <a:xfrm rot="-10800000">
              <a:off x="0" y="350957"/>
              <a:ext cx="116986" cy="116986"/>
              <a:chOff x="0" y="0"/>
              <a:chExt cx="6355080" cy="635508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9" name="Group 9"/>
            <p:cNvGrpSpPr>
              <a:grpSpLocks noChangeAspect="1"/>
            </p:cNvGrpSpPr>
            <p:nvPr/>
          </p:nvGrpSpPr>
          <p:grpSpPr>
            <a:xfrm rot="-10800000">
              <a:off x="0" y="526436"/>
              <a:ext cx="116986" cy="116986"/>
              <a:chOff x="0" y="0"/>
              <a:chExt cx="6355080" cy="635508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 rot="-10800000">
              <a:off x="0" y="175479"/>
              <a:ext cx="116986" cy="116986"/>
              <a:chOff x="0" y="0"/>
              <a:chExt cx="6355080" cy="635508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13" name="Group 13"/>
            <p:cNvGrpSpPr/>
            <p:nvPr/>
          </p:nvGrpSpPr>
          <p:grpSpPr>
            <a:xfrm>
              <a:off x="0" y="0"/>
              <a:ext cx="116986" cy="116986"/>
              <a:chOff x="0" y="0"/>
              <a:chExt cx="6350000" cy="6350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</p:grpSp>
      <p:sp>
        <p:nvSpPr>
          <p:cNvPr id="15" name="TextBox 15"/>
          <p:cNvSpPr txBox="1"/>
          <p:nvPr/>
        </p:nvSpPr>
        <p:spPr>
          <a:xfrm>
            <a:off x="1170956" y="2759024"/>
            <a:ext cx="6607850" cy="603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1170956" y="2174774"/>
            <a:ext cx="3181969" cy="3574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/>
        </p:txBody>
      </p:sp>
      <p:sp>
        <p:nvSpPr>
          <p:cNvPr id="17" name="Freeform 17"/>
          <p:cNvSpPr/>
          <p:nvPr/>
        </p:nvSpPr>
        <p:spPr>
          <a:xfrm>
            <a:off x="2370677" y="1151477"/>
            <a:ext cx="5012247" cy="5012247"/>
          </a:xfrm>
          <a:custGeom>
            <a:avLst/>
            <a:gdLst/>
            <a:ahLst/>
            <a:cxnLst/>
            <a:rect l="l" t="t" r="r" b="b"/>
            <a:pathLst>
              <a:path w="5012247" h="5012247">
                <a:moveTo>
                  <a:pt x="0" y="0"/>
                </a:moveTo>
                <a:lnTo>
                  <a:pt x="5012246" y="0"/>
                </a:lnTo>
                <a:lnTo>
                  <a:pt x="5012246" y="5012246"/>
                </a:lnTo>
                <a:lnTo>
                  <a:pt x="0" y="50122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/>
            </a:stretch>
          </a:blipFill>
        </p:spPr>
      </p:sp>
      <p:sp>
        <p:nvSpPr>
          <p:cNvPr id="18" name="AutoShape 18"/>
          <p:cNvSpPr/>
          <p:nvPr/>
        </p:nvSpPr>
        <p:spPr>
          <a:xfrm>
            <a:off x="0" y="6555057"/>
            <a:ext cx="9017000" cy="9573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9" name="TextBox 19"/>
          <p:cNvSpPr txBox="1"/>
          <p:nvPr/>
        </p:nvSpPr>
        <p:spPr>
          <a:xfrm>
            <a:off x="241321" y="712470"/>
            <a:ext cx="325383" cy="471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01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6383153" y="6602730"/>
            <a:ext cx="2498501" cy="637630"/>
            <a:chOff x="0" y="0"/>
            <a:chExt cx="3331335" cy="85017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80439" cy="850174"/>
            </a:xfrm>
            <a:custGeom>
              <a:avLst/>
              <a:gdLst/>
              <a:ahLst/>
              <a:cxnLst/>
              <a:rect l="l" t="t" r="r" b="b"/>
              <a:pathLst>
                <a:path w="880439" h="850174">
                  <a:moveTo>
                    <a:pt x="0" y="0"/>
                  </a:moveTo>
                  <a:lnTo>
                    <a:pt x="880439" y="0"/>
                  </a:lnTo>
                  <a:lnTo>
                    <a:pt x="880439" y="850174"/>
                  </a:lnTo>
                  <a:lnTo>
                    <a:pt x="0" y="850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1060899" y="14843"/>
              <a:ext cx="2270436" cy="835331"/>
            </a:xfrm>
            <a:custGeom>
              <a:avLst/>
              <a:gdLst/>
              <a:ahLst/>
              <a:cxnLst/>
              <a:rect l="l" t="t" r="r" b="b"/>
              <a:pathLst>
                <a:path w="2270436" h="835331">
                  <a:moveTo>
                    <a:pt x="0" y="0"/>
                  </a:moveTo>
                  <a:lnTo>
                    <a:pt x="2270436" y="0"/>
                  </a:lnTo>
                  <a:lnTo>
                    <a:pt x="2270436" y="835331"/>
                  </a:lnTo>
                  <a:lnTo>
                    <a:pt x="0" y="835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23" name="TextBox 22"/>
          <p:cNvSpPr txBox="1"/>
          <p:nvPr/>
        </p:nvSpPr>
        <p:spPr>
          <a:xfrm>
            <a:off x="1051560" y="1371600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E53935"/>
                </a:solidFill>
                <a:latin typeface="Arial"/>
              </a:rPr>
              <a:t>The Threat: Autonomous AI-Agentic Multi-Accounting &amp; Coordinated Sybil Fraud Rings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1560" y="1874519"/>
            <a:ext cx="2468880" cy="4343400"/>
          </a:xfrm>
          <a:prstGeom prst="round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51560" y="1874519"/>
            <a:ext cx="2468880" cy="128016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61288" y="2057399"/>
            <a:ext cx="2249424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0F172A"/>
                </a:solidFill>
                <a:latin typeface="Arial"/>
              </a:rPr>
              <a:t>1. The AI Exploit Scenario</a:t>
            </a:r>
          </a:p>
          <a:p>
            <a:pPr>
              <a:lnSpc>
                <a:spcPct val="112000"/>
              </a:lnSpc>
              <a:spcBef>
                <a:spcPts val="200"/>
              </a:spcBef>
              <a:spcAft>
                <a:spcPts val="300"/>
              </a:spcAft>
            </a:pPr>
            <a:r>
              <a:rPr sz="880" b="1">
                <a:solidFill>
                  <a:srgbClr val="E53935"/>
                </a:solidFill>
                <a:latin typeface="Arial"/>
              </a:rPr>
              <a:t>• Autonomous Multi-Accounting: </a:t>
            </a:r>
            <a:r>
              <a:rPr sz="840">
                <a:solidFill>
                  <a:srgbClr val="334155"/>
                </a:solidFill>
                <a:latin typeface="Arial"/>
              </a:rPr>
              <a:t>Attackers deploy autonomous AI agents (Browser-Use, AutoGPT, LLM runners) that operate dozens of accounts in parallel.</a:t>
            </a:r>
          </a:p>
          <a:p>
            <a:pPr>
              <a:lnSpc>
                <a:spcPct val="112000"/>
              </a:lnSpc>
              <a:spcBef>
                <a:spcPts val="200"/>
              </a:spcBef>
              <a:spcAft>
                <a:spcPts val="300"/>
              </a:spcAft>
            </a:pPr>
            <a:r>
              <a:rPr sz="880" b="1">
                <a:solidFill>
                  <a:srgbClr val="E53935"/>
                </a:solidFill>
                <a:latin typeface="Arial"/>
              </a:rPr>
              <a:t>• Polymorphic Camouflage: </a:t>
            </a:r>
            <a:r>
              <a:rPr sz="840">
                <a:solidFill>
                  <a:srgbClr val="334155"/>
                </a:solidFill>
                <a:latin typeface="Arial"/>
              </a:rPr>
              <a:t>LLMs dynamically generate unique profile text, distinct bios, and conversational nuances, easily bypassing keyword filters.</a:t>
            </a:r>
          </a:p>
          <a:p>
            <a:pPr>
              <a:lnSpc>
                <a:spcPct val="112000"/>
              </a:lnSpc>
              <a:spcBef>
                <a:spcPts val="200"/>
              </a:spcBef>
              <a:spcAft>
                <a:spcPts val="300"/>
              </a:spcAft>
            </a:pPr>
            <a:r>
              <a:rPr sz="880" b="1">
                <a:solidFill>
                  <a:srgbClr val="E53935"/>
                </a:solidFill>
                <a:latin typeface="Arial"/>
              </a:rPr>
              <a:t>• Defeating Single Checks: </a:t>
            </a:r>
            <a:r>
              <a:rPr sz="840">
                <a:solidFill>
                  <a:srgbClr val="334155"/>
                </a:solidFill>
                <a:latin typeface="Arial"/>
              </a:rPr>
              <a:t>Traditional captchas and single-account rules fail because each synthetic persona behaves organically human in isolation.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49039" y="1874519"/>
            <a:ext cx="2468880" cy="4343400"/>
          </a:xfrm>
          <a:prstGeom prst="round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49039" y="1874519"/>
            <a:ext cx="2468880" cy="12801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58767" y="2057399"/>
            <a:ext cx="2249424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0F172A"/>
                </a:solidFill>
                <a:latin typeface="Arial"/>
              </a:rPr>
              <a:t>2. Victims &amp; Target Sectors</a:t>
            </a:r>
          </a:p>
          <a:p>
            <a:pPr>
              <a:lnSpc>
                <a:spcPct val="112000"/>
              </a:lnSpc>
              <a:spcBef>
                <a:spcPts val="200"/>
              </a:spcBef>
              <a:spcAft>
                <a:spcPts val="300"/>
              </a:spcAft>
            </a:pPr>
            <a:r>
              <a:rPr sz="880" b="1">
                <a:solidFill>
                  <a:srgbClr val="0F172A"/>
                </a:solidFill>
                <a:latin typeface="Arial"/>
              </a:rPr>
              <a:t>• FinTech &amp; Micro-Lending: </a:t>
            </a:r>
            <a:r>
              <a:rPr sz="840">
                <a:solidFill>
                  <a:srgbClr val="334155"/>
                </a:solidFill>
                <a:latin typeface="Arial"/>
              </a:rPr>
              <a:t>Coordinated referral abuse, sign-up bonus drainage, and automated micro-loan harvesting across multiple accounts.</a:t>
            </a:r>
          </a:p>
          <a:p>
            <a:pPr>
              <a:lnSpc>
                <a:spcPct val="112000"/>
              </a:lnSpc>
              <a:spcBef>
                <a:spcPts val="200"/>
              </a:spcBef>
              <a:spcAft>
                <a:spcPts val="300"/>
              </a:spcAft>
            </a:pPr>
            <a:r>
              <a:rPr sz="880" b="1">
                <a:solidFill>
                  <a:srgbClr val="0F172A"/>
                </a:solidFill>
                <a:latin typeface="Arial"/>
              </a:rPr>
              <a:t>• E-Commerce &amp; Marketplaces: </a:t>
            </a:r>
            <a:r>
              <a:rPr sz="840">
                <a:solidFill>
                  <a:srgbClr val="334155"/>
                </a:solidFill>
                <a:latin typeface="Arial"/>
              </a:rPr>
              <a:t>Distributed astroturfing, fake merchant syndicates, and wash-trading manipulation.</a:t>
            </a:r>
          </a:p>
          <a:p>
            <a:pPr>
              <a:lnSpc>
                <a:spcPct val="112000"/>
              </a:lnSpc>
              <a:spcBef>
                <a:spcPts val="200"/>
              </a:spcBef>
              <a:spcAft>
                <a:spcPts val="300"/>
              </a:spcAft>
            </a:pPr>
            <a:r>
              <a:rPr sz="880" b="1">
                <a:solidFill>
                  <a:srgbClr val="0F172A"/>
                </a:solidFill>
                <a:latin typeface="Arial"/>
              </a:rPr>
              <a:t>• Digital Platforms: </a:t>
            </a:r>
            <a:r>
              <a:rPr sz="840">
                <a:solidFill>
                  <a:srgbClr val="334155"/>
                </a:solidFill>
                <a:latin typeface="Arial"/>
              </a:rPr>
              <a:t>Large-scale inauthentic sentiment manipulation, phishing distribution, and trust degradation across real ecosystems.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46520" y="1874519"/>
            <a:ext cx="2468880" cy="4343400"/>
          </a:xfrm>
          <a:prstGeom prst="round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46520" y="1874519"/>
            <a:ext cx="2468880" cy="12801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2057399"/>
            <a:ext cx="2249424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0F172A"/>
                </a:solidFill>
                <a:latin typeface="Arial"/>
              </a:rPr>
              <a:t>3. Why Existing Tools Fail</a:t>
            </a:r>
          </a:p>
          <a:p>
            <a:pPr>
              <a:lnSpc>
                <a:spcPct val="112000"/>
              </a:lnSpc>
              <a:spcBef>
                <a:spcPts val="200"/>
              </a:spcBef>
              <a:spcAft>
                <a:spcPts val="300"/>
              </a:spcAft>
            </a:pPr>
            <a:r>
              <a:rPr sz="880" b="1">
                <a:solidFill>
                  <a:srgbClr val="0F172A"/>
                </a:solidFill>
                <a:latin typeface="Arial"/>
              </a:rPr>
              <a:t>• Opaque Black-Box Scores: </a:t>
            </a:r>
            <a:r>
              <a:rPr sz="840">
                <a:solidFill>
                  <a:srgbClr val="334155"/>
                </a:solidFill>
                <a:latin typeface="Arial"/>
              </a:rPr>
              <a:t>Current anti-fraud tools output unexplainable numbers (e.g., '82% Suspicious') without actionable evidence trails.</a:t>
            </a:r>
          </a:p>
          <a:p>
            <a:pPr>
              <a:lnSpc>
                <a:spcPct val="112000"/>
              </a:lnSpc>
              <a:spcBef>
                <a:spcPts val="200"/>
              </a:spcBef>
              <a:spcAft>
                <a:spcPts val="300"/>
              </a:spcAft>
            </a:pPr>
            <a:r>
              <a:rPr sz="880" b="1">
                <a:solidFill>
                  <a:srgbClr val="0F172A"/>
                </a:solidFill>
                <a:latin typeface="Arial"/>
              </a:rPr>
              <a:t>• Isolated Session Silos: </a:t>
            </a:r>
            <a:r>
              <a:rPr sz="840">
                <a:solidFill>
                  <a:srgbClr val="334155"/>
                </a:solidFill>
                <a:latin typeface="Arial"/>
              </a:rPr>
              <a:t>Legacy tools inspect accounts one at a time, completely blind to cross-session relational coordination.</a:t>
            </a:r>
          </a:p>
          <a:p>
            <a:pPr>
              <a:lnSpc>
                <a:spcPct val="112000"/>
              </a:lnSpc>
              <a:spcBef>
                <a:spcPts val="200"/>
              </a:spcBef>
              <a:spcAft>
                <a:spcPts val="300"/>
              </a:spcAft>
            </a:pPr>
            <a:r>
              <a:rPr sz="880" b="1">
                <a:solidFill>
                  <a:srgbClr val="0F172A"/>
                </a:solidFill>
                <a:latin typeface="Arial"/>
              </a:rPr>
              <a:t>• Unenforceable Bans: </a:t>
            </a:r>
            <a:r>
              <a:rPr sz="840">
                <a:solidFill>
                  <a:srgbClr val="334155"/>
                </a:solidFill>
                <a:latin typeface="Arial"/>
              </a:rPr>
              <a:t>Without inspectable causality, compliance teams cannot justify account suspensions, risking massive false-positive churn.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83564" y="496441"/>
            <a:ext cx="6572549" cy="626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4"/>
              </a:lnSpc>
            </a:pPr>
            <a:r>
              <a:rPr lang="en-US" sz="4364" b="1" spc="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How will we stop it?</a:t>
            </a:r>
          </a:p>
        </p:txBody>
      </p:sp>
      <p:sp>
        <p:nvSpPr>
          <p:cNvPr id="3" name="AutoShape 3"/>
          <p:cNvSpPr/>
          <p:nvPr/>
        </p:nvSpPr>
        <p:spPr>
          <a:xfrm>
            <a:off x="9017000" y="-216918"/>
            <a:ext cx="9525" cy="7821877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4" name="AutoShape 4"/>
          <p:cNvSpPr/>
          <p:nvPr/>
        </p:nvSpPr>
        <p:spPr>
          <a:xfrm>
            <a:off x="-69603" y="1683678"/>
            <a:ext cx="9823203" cy="956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5" name="TextBox 5"/>
          <p:cNvSpPr txBox="1"/>
          <p:nvPr/>
        </p:nvSpPr>
        <p:spPr>
          <a:xfrm>
            <a:off x="9245141" y="545401"/>
            <a:ext cx="325383" cy="471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24716" y="2443063"/>
            <a:ext cx="7700248" cy="603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7" name="Freeform 7"/>
          <p:cNvSpPr/>
          <p:nvPr/>
        </p:nvSpPr>
        <p:spPr>
          <a:xfrm>
            <a:off x="2370677" y="1151477"/>
            <a:ext cx="5012247" cy="5012247"/>
          </a:xfrm>
          <a:custGeom>
            <a:avLst/>
            <a:gdLst/>
            <a:ahLst/>
            <a:cxnLst/>
            <a:rect l="l" t="t" r="r" b="b"/>
            <a:pathLst>
              <a:path w="5012247" h="5012247">
                <a:moveTo>
                  <a:pt x="0" y="0"/>
                </a:moveTo>
                <a:lnTo>
                  <a:pt x="5012246" y="0"/>
                </a:lnTo>
                <a:lnTo>
                  <a:pt x="5012246" y="5012246"/>
                </a:lnTo>
                <a:lnTo>
                  <a:pt x="0" y="50122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/>
            </a:stretch>
          </a:blipFill>
        </p:spPr>
      </p:sp>
      <p:sp>
        <p:nvSpPr>
          <p:cNvPr id="8" name="AutoShape 8"/>
          <p:cNvSpPr/>
          <p:nvPr/>
        </p:nvSpPr>
        <p:spPr>
          <a:xfrm>
            <a:off x="726440" y="127699"/>
            <a:ext cx="9525" cy="7440426"/>
          </a:xfrm>
          <a:prstGeom prst="rect">
            <a:avLst/>
          </a:prstGeom>
          <a:solidFill>
            <a:srgbClr val="000000"/>
          </a:solidFill>
        </p:spPr>
      </p:sp>
      <p:grpSp>
        <p:nvGrpSpPr>
          <p:cNvPr id="9" name="Group 9"/>
          <p:cNvGrpSpPr/>
          <p:nvPr/>
        </p:nvGrpSpPr>
        <p:grpSpPr>
          <a:xfrm>
            <a:off x="325798" y="6699312"/>
            <a:ext cx="87739" cy="482566"/>
            <a:chOff x="0" y="0"/>
            <a:chExt cx="116986" cy="643422"/>
          </a:xfrm>
        </p:grpSpPr>
        <p:grpSp>
          <p:nvGrpSpPr>
            <p:cNvPr id="10" name="Group 10"/>
            <p:cNvGrpSpPr>
              <a:grpSpLocks noChangeAspect="1"/>
            </p:cNvGrpSpPr>
            <p:nvPr/>
          </p:nvGrpSpPr>
          <p:grpSpPr>
            <a:xfrm rot="-10800000">
              <a:off x="0" y="350957"/>
              <a:ext cx="116986" cy="116986"/>
              <a:chOff x="0" y="0"/>
              <a:chExt cx="6355080" cy="635508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12" name="Group 12"/>
            <p:cNvGrpSpPr>
              <a:grpSpLocks noChangeAspect="1"/>
            </p:cNvGrpSpPr>
            <p:nvPr/>
          </p:nvGrpSpPr>
          <p:grpSpPr>
            <a:xfrm rot="-10800000">
              <a:off x="0" y="526436"/>
              <a:ext cx="116986" cy="116986"/>
              <a:chOff x="0" y="0"/>
              <a:chExt cx="6355080" cy="635508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14" name="Group 14"/>
            <p:cNvGrpSpPr>
              <a:grpSpLocks noChangeAspect="1"/>
            </p:cNvGrpSpPr>
            <p:nvPr/>
          </p:nvGrpSpPr>
          <p:grpSpPr>
            <a:xfrm rot="-10800000">
              <a:off x="0" y="175479"/>
              <a:ext cx="116986" cy="116986"/>
              <a:chOff x="0" y="0"/>
              <a:chExt cx="6355080" cy="635508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16" name="Group 16"/>
            <p:cNvGrpSpPr/>
            <p:nvPr/>
          </p:nvGrpSpPr>
          <p:grpSpPr>
            <a:xfrm>
              <a:off x="0" y="0"/>
              <a:ext cx="116986" cy="116986"/>
              <a:chOff x="0" y="0"/>
              <a:chExt cx="6350000" cy="63500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</p:grpSp>
      <p:sp>
        <p:nvSpPr>
          <p:cNvPr id="18" name="AutoShape 18"/>
          <p:cNvSpPr/>
          <p:nvPr/>
        </p:nvSpPr>
        <p:spPr>
          <a:xfrm>
            <a:off x="-2787" y="0"/>
            <a:ext cx="738752" cy="168623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9" name="AutoShape 19"/>
          <p:cNvSpPr/>
          <p:nvPr/>
        </p:nvSpPr>
        <p:spPr>
          <a:xfrm>
            <a:off x="0" y="6574107"/>
            <a:ext cx="9017000" cy="9573"/>
          </a:xfrm>
          <a:prstGeom prst="rect">
            <a:avLst/>
          </a:prstGeom>
          <a:solidFill>
            <a:srgbClr val="000000"/>
          </a:solidFill>
        </p:spPr>
      </p:sp>
      <p:grpSp>
        <p:nvGrpSpPr>
          <p:cNvPr id="20" name="Group 20"/>
          <p:cNvGrpSpPr/>
          <p:nvPr/>
        </p:nvGrpSpPr>
        <p:grpSpPr>
          <a:xfrm>
            <a:off x="6383153" y="6602730"/>
            <a:ext cx="2498501" cy="637630"/>
            <a:chOff x="0" y="0"/>
            <a:chExt cx="3331335" cy="85017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80439" cy="850174"/>
            </a:xfrm>
            <a:custGeom>
              <a:avLst/>
              <a:gdLst/>
              <a:ahLst/>
              <a:cxnLst/>
              <a:rect l="l" t="t" r="r" b="b"/>
              <a:pathLst>
                <a:path w="880439" h="850174">
                  <a:moveTo>
                    <a:pt x="0" y="0"/>
                  </a:moveTo>
                  <a:lnTo>
                    <a:pt x="880439" y="0"/>
                  </a:lnTo>
                  <a:lnTo>
                    <a:pt x="880439" y="850174"/>
                  </a:lnTo>
                  <a:lnTo>
                    <a:pt x="0" y="850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1060899" y="14843"/>
              <a:ext cx="2270436" cy="835331"/>
            </a:xfrm>
            <a:custGeom>
              <a:avLst/>
              <a:gdLst/>
              <a:ahLst/>
              <a:cxnLst/>
              <a:rect l="l" t="t" r="r" b="b"/>
              <a:pathLst>
                <a:path w="2270436" h="835331">
                  <a:moveTo>
                    <a:pt x="0" y="0"/>
                  </a:moveTo>
                  <a:lnTo>
                    <a:pt x="2270436" y="0"/>
                  </a:lnTo>
                  <a:lnTo>
                    <a:pt x="2270436" y="835331"/>
                  </a:lnTo>
                  <a:lnTo>
                    <a:pt x="0" y="835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23" name="TextBox 22"/>
          <p:cNvSpPr txBox="1"/>
          <p:nvPr/>
        </p:nvSpPr>
        <p:spPr>
          <a:xfrm>
            <a:off x="1051560" y="1371600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E53935"/>
                </a:solidFill>
                <a:latin typeface="Arial"/>
              </a:rPr>
              <a:t>Relational Behavioral Telemetry &amp; The Explainable 'Why' Evidence Dossier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1560" y="1874519"/>
            <a:ext cx="2468880" cy="4343400"/>
          </a:xfrm>
          <a:prstGeom prst="round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51560" y="1874519"/>
            <a:ext cx="2468880" cy="128016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61288" y="2057399"/>
            <a:ext cx="2249424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0F172A"/>
                </a:solidFill>
                <a:latin typeface="Arial"/>
              </a:rPr>
              <a:t>1. The Relational Shift</a:t>
            </a:r>
          </a:p>
          <a:p>
            <a:pPr>
              <a:lnSpc>
                <a:spcPct val="112000"/>
              </a:lnSpc>
              <a:spcBef>
                <a:spcPts val="200"/>
              </a:spcBef>
              <a:spcAft>
                <a:spcPts val="300"/>
              </a:spcAft>
            </a:pPr>
            <a:r>
              <a:rPr sz="880" b="1">
                <a:solidFill>
                  <a:srgbClr val="E53935"/>
                </a:solidFill>
                <a:latin typeface="Arial"/>
              </a:rPr>
              <a:t>• Core Thesis: </a:t>
            </a:r>
            <a:r>
              <a:rPr sz="840">
                <a:solidFill>
                  <a:srgbClr val="334155"/>
                </a:solidFill>
                <a:latin typeface="Arial"/>
              </a:rPr>
              <a:t>Shift from unanswerable 'Is this single account AI?' to tractable 'Are these independent accounts commanded by the same automated puppet master?'</a:t>
            </a:r>
          </a:p>
          <a:p>
            <a:pPr>
              <a:lnSpc>
                <a:spcPct val="112000"/>
              </a:lnSpc>
              <a:spcBef>
                <a:spcPts val="200"/>
              </a:spcBef>
              <a:spcAft>
                <a:spcPts val="300"/>
              </a:spcAft>
            </a:pPr>
            <a:r>
              <a:rPr sz="880" b="1">
                <a:solidFill>
                  <a:srgbClr val="E53935"/>
                </a:solidFill>
                <a:latin typeface="Arial"/>
              </a:rPr>
              <a:t>• Capturing Hidden Harmony: </a:t>
            </a:r>
            <a:r>
              <a:rPr sz="840">
                <a:solidFill>
                  <a:srgbClr val="334155"/>
                </a:solidFill>
                <a:latin typeface="Arial"/>
              </a:rPr>
              <a:t>While LLMs fake varied text, automated agent runners leave undeniable mathematical fingerprints across routing, timing, and keystrokes.</a:t>
            </a:r>
          </a:p>
          <a:p>
            <a:pPr>
              <a:lnSpc>
                <a:spcPct val="112000"/>
              </a:lnSpc>
              <a:spcBef>
                <a:spcPts val="200"/>
              </a:spcBef>
              <a:spcAft>
                <a:spcPts val="300"/>
              </a:spcAft>
            </a:pPr>
            <a:r>
              <a:rPr sz="880" b="1">
                <a:solidFill>
                  <a:srgbClr val="E53935"/>
                </a:solidFill>
                <a:latin typeface="Arial"/>
              </a:rPr>
              <a:t>• Multi-Signal Defense: </a:t>
            </a:r>
            <a:r>
              <a:rPr sz="840">
                <a:solidFill>
                  <a:srgbClr val="334155"/>
                </a:solidFill>
                <a:latin typeface="Arial"/>
              </a:rPr>
              <a:t>Requires convergence across 5 independent evidence layers before raising high-confidence flags.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49039" y="1874519"/>
            <a:ext cx="2468880" cy="4343400"/>
          </a:xfrm>
          <a:prstGeom prst="round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49039" y="1874519"/>
            <a:ext cx="2468880" cy="12801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58767" y="2057399"/>
            <a:ext cx="2249424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0F172A"/>
                </a:solidFill>
                <a:latin typeface="Arial"/>
              </a:rPr>
              <a:t>2. The 5 Behavioral Fingerprints</a:t>
            </a:r>
          </a:p>
          <a:p>
            <a:pPr>
              <a:lnSpc>
                <a:spcPct val="112000"/>
              </a:lnSpc>
              <a:spcBef>
                <a:spcPts val="200"/>
              </a:spcBef>
              <a:spcAft>
                <a:spcPts val="300"/>
              </a:spcAft>
            </a:pPr>
            <a:r>
              <a:rPr sz="880" b="1">
                <a:solidFill>
                  <a:srgbClr val="0F172A"/>
                </a:solidFill>
                <a:latin typeface="Arial"/>
              </a:rPr>
              <a:t>• Interaction Cadence: </a:t>
            </a:r>
            <a:r>
              <a:rPr sz="840">
                <a:solidFill>
                  <a:srgbClr val="334155"/>
                </a:solidFill>
                <a:latin typeface="Arial"/>
              </a:rPr>
              <a:t>Keystroke Flight Time (FT) and Dwell Time (DT) variance and pointer curvature jerk.</a:t>
            </a:r>
          </a:p>
          <a:p>
            <a:pPr>
              <a:lnSpc>
                <a:spcPct val="112000"/>
              </a:lnSpc>
              <a:spcBef>
                <a:spcPts val="200"/>
              </a:spcBef>
              <a:spcAft>
                <a:spcPts val="300"/>
              </a:spcAft>
            </a:pPr>
            <a:r>
              <a:rPr sz="880" b="1">
                <a:solidFill>
                  <a:srgbClr val="0F172A"/>
                </a:solidFill>
                <a:latin typeface="Arial"/>
              </a:rPr>
              <a:t>• Navigation Sequences: </a:t>
            </a:r>
            <a:r>
              <a:rPr sz="840">
                <a:solidFill>
                  <a:srgbClr val="334155"/>
                </a:solidFill>
                <a:latin typeface="Arial"/>
              </a:rPr>
              <a:t>Finite State Machine (FSM) route transitions across application views (e.g., Home -&gt; Search -&gt; Post).</a:t>
            </a:r>
          </a:p>
          <a:p>
            <a:pPr>
              <a:lnSpc>
                <a:spcPct val="112000"/>
              </a:lnSpc>
              <a:spcBef>
                <a:spcPts val="200"/>
              </a:spcBef>
              <a:spcAft>
                <a:spcPts val="300"/>
              </a:spcAft>
            </a:pPr>
            <a:r>
              <a:rPr sz="880" b="1">
                <a:solidFill>
                  <a:srgbClr val="0F172A"/>
                </a:solidFill>
                <a:latin typeface="Arial"/>
              </a:rPr>
              <a:t>• Micro-Temporal Sync: </a:t>
            </a:r>
            <a:r>
              <a:rPr sz="840">
                <a:solidFill>
                  <a:srgbClr val="334155"/>
                </a:solidFill>
                <a:latin typeface="Arial"/>
              </a:rPr>
              <a:t>Request ingress timestamp deltas (Delta t &lt; 1.4s) exposing automated batch submission bursts.</a:t>
            </a:r>
          </a:p>
          <a:p>
            <a:pPr>
              <a:lnSpc>
                <a:spcPct val="112000"/>
              </a:lnSpc>
              <a:spcBef>
                <a:spcPts val="200"/>
              </a:spcBef>
              <a:spcAft>
                <a:spcPts val="300"/>
              </a:spcAft>
            </a:pPr>
            <a:r>
              <a:rPr sz="880" b="1">
                <a:solidFill>
                  <a:srgbClr val="0F172A"/>
                </a:solidFill>
                <a:latin typeface="Arial"/>
              </a:rPr>
              <a:t>• Semantic Embeddings: </a:t>
            </a:r>
            <a:r>
              <a:rPr sz="840">
                <a:solidFill>
                  <a:srgbClr val="334155"/>
                </a:solidFill>
                <a:latin typeface="Arial"/>
              </a:rPr>
              <a:t>all-MiniLM-L6-v2 dense vector cosine similarity (&gt; 0.85) catching paraphrased spam.</a:t>
            </a:r>
          </a:p>
          <a:p>
            <a:pPr>
              <a:lnSpc>
                <a:spcPct val="112000"/>
              </a:lnSpc>
              <a:spcBef>
                <a:spcPts val="200"/>
              </a:spcBef>
              <a:spcAft>
                <a:spcPts val="300"/>
              </a:spcAft>
            </a:pPr>
            <a:r>
              <a:rPr sz="880" b="1">
                <a:solidFill>
                  <a:srgbClr val="0F172A"/>
                </a:solidFill>
                <a:latin typeface="Arial"/>
              </a:rPr>
              <a:t>• Client Environment: </a:t>
            </a:r>
            <a:r>
              <a:rPr sz="840">
                <a:solidFill>
                  <a:srgbClr val="334155"/>
                </a:solidFill>
                <a:latin typeface="Arial"/>
              </a:rPr>
              <a:t>Canvas &amp; WebGL hardware rendering hashes and device fingerprints.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46520" y="1874519"/>
            <a:ext cx="2468880" cy="4343400"/>
          </a:xfrm>
          <a:prstGeom prst="round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46520" y="1874519"/>
            <a:ext cx="2468880" cy="12801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2057399"/>
            <a:ext cx="2249424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0F172A"/>
                </a:solidFill>
                <a:latin typeface="Arial"/>
              </a:rPr>
              <a:t>3. The Explainable 'Why' Layer</a:t>
            </a:r>
          </a:p>
          <a:p>
            <a:pPr>
              <a:lnSpc>
                <a:spcPct val="112000"/>
              </a:lnSpc>
              <a:spcBef>
                <a:spcPts val="200"/>
              </a:spcBef>
              <a:spcAft>
                <a:spcPts val="300"/>
              </a:spcAft>
            </a:pPr>
            <a:r>
              <a:rPr sz="880" b="1">
                <a:solidFill>
                  <a:srgbClr val="0F172A"/>
                </a:solidFill>
                <a:latin typeface="Arial"/>
              </a:rPr>
              <a:t>• The Centerpiece Feature: </a:t>
            </a:r>
            <a:r>
              <a:rPr sz="840">
                <a:solidFill>
                  <a:srgbClr val="334155"/>
                </a:solidFill>
                <a:latin typeface="Arial"/>
              </a:rPr>
              <a:t>Converts high-dimensional graph connections into plain-English, auditable evidence dossiers.</a:t>
            </a:r>
          </a:p>
          <a:p>
            <a:pPr>
              <a:lnSpc>
                <a:spcPct val="112000"/>
              </a:lnSpc>
              <a:spcBef>
                <a:spcPts val="200"/>
              </a:spcBef>
              <a:spcAft>
                <a:spcPts val="300"/>
              </a:spcAft>
            </a:pPr>
            <a:r>
              <a:rPr sz="880" b="1">
                <a:solidFill>
                  <a:srgbClr val="0F172A"/>
                </a:solidFill>
                <a:latin typeface="Arial"/>
              </a:rPr>
              <a:t>• Inspectable Attribution: </a:t>
            </a:r>
            <a:r>
              <a:rPr sz="840">
                <a:solidFill>
                  <a:srgbClr val="334155"/>
                </a:solidFill>
                <a:latin typeface="Arial"/>
              </a:rPr>
              <a:t>'Linked by 94% timing correlation, identical 4-step navigation route, and 0.89 semantic similarity.'</a:t>
            </a:r>
          </a:p>
          <a:p>
            <a:pPr>
              <a:lnSpc>
                <a:spcPct val="112000"/>
              </a:lnSpc>
              <a:spcBef>
                <a:spcPts val="200"/>
              </a:spcBef>
              <a:spcAft>
                <a:spcPts val="300"/>
              </a:spcAft>
            </a:pPr>
            <a:r>
              <a:rPr sz="880" b="1">
                <a:solidFill>
                  <a:srgbClr val="0F172A"/>
                </a:solidFill>
                <a:latin typeface="Arial"/>
              </a:rPr>
              <a:t>• Scientifically Defensible: </a:t>
            </a:r>
            <a:r>
              <a:rPr sz="840">
                <a:solidFill>
                  <a:srgbClr val="334155"/>
                </a:solidFill>
                <a:latin typeface="Arial"/>
              </a:rPr>
              <a:t>Reports 'signals consistent with coordinated operation', avoiding unverifiable individual identity claims.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53006" y="-19075"/>
            <a:ext cx="788971" cy="172020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" name="AutoShape 3"/>
          <p:cNvSpPr/>
          <p:nvPr/>
        </p:nvSpPr>
        <p:spPr>
          <a:xfrm>
            <a:off x="9017000" y="-115563"/>
            <a:ext cx="9525" cy="7510726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4" name="AutoShape 4"/>
          <p:cNvSpPr/>
          <p:nvPr/>
        </p:nvSpPr>
        <p:spPr>
          <a:xfrm>
            <a:off x="0" y="1691580"/>
            <a:ext cx="9753600" cy="955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5" name="AutoShape 5"/>
          <p:cNvSpPr/>
          <p:nvPr/>
        </p:nvSpPr>
        <p:spPr>
          <a:xfrm>
            <a:off x="0" y="6574107"/>
            <a:ext cx="9017000" cy="9573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6" name="TextBox 6"/>
          <p:cNvSpPr txBox="1"/>
          <p:nvPr/>
        </p:nvSpPr>
        <p:spPr>
          <a:xfrm>
            <a:off x="1479698" y="488354"/>
            <a:ext cx="5779401" cy="626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4"/>
              </a:lnSpc>
            </a:pPr>
            <a:r>
              <a:rPr lang="en-US" sz="4364" b="1" spc="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Implementation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09121" y="3404731"/>
            <a:ext cx="6037810" cy="908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8" name="Freeform 8"/>
          <p:cNvSpPr/>
          <p:nvPr/>
        </p:nvSpPr>
        <p:spPr>
          <a:xfrm>
            <a:off x="2370677" y="1151477"/>
            <a:ext cx="5012247" cy="5012247"/>
          </a:xfrm>
          <a:custGeom>
            <a:avLst/>
            <a:gdLst/>
            <a:ahLst/>
            <a:cxnLst/>
            <a:rect l="l" t="t" r="r" b="b"/>
            <a:pathLst>
              <a:path w="5012247" h="5012247">
                <a:moveTo>
                  <a:pt x="0" y="0"/>
                </a:moveTo>
                <a:lnTo>
                  <a:pt x="5012246" y="0"/>
                </a:lnTo>
                <a:lnTo>
                  <a:pt x="5012246" y="5012246"/>
                </a:lnTo>
                <a:lnTo>
                  <a:pt x="0" y="50122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/>
            </a:stretch>
          </a:blipFill>
        </p:spPr>
      </p:sp>
      <p:sp>
        <p:nvSpPr>
          <p:cNvPr id="9" name="AutoShape 9"/>
          <p:cNvSpPr/>
          <p:nvPr/>
        </p:nvSpPr>
        <p:spPr>
          <a:xfrm>
            <a:off x="726440" y="127699"/>
            <a:ext cx="9525" cy="7440426"/>
          </a:xfrm>
          <a:prstGeom prst="rect">
            <a:avLst/>
          </a:prstGeom>
          <a:solidFill>
            <a:srgbClr val="000000"/>
          </a:solidFill>
        </p:spPr>
      </p:sp>
      <p:grpSp>
        <p:nvGrpSpPr>
          <p:cNvPr id="10" name="Group 10"/>
          <p:cNvGrpSpPr/>
          <p:nvPr/>
        </p:nvGrpSpPr>
        <p:grpSpPr>
          <a:xfrm>
            <a:off x="325798" y="6718362"/>
            <a:ext cx="87739" cy="482566"/>
            <a:chOff x="0" y="0"/>
            <a:chExt cx="116986" cy="643422"/>
          </a:xfrm>
        </p:grpSpPr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 rot="-10800000">
              <a:off x="0" y="350957"/>
              <a:ext cx="116986" cy="116986"/>
              <a:chOff x="0" y="0"/>
              <a:chExt cx="6355080" cy="635508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13" name="Group 13"/>
            <p:cNvGrpSpPr>
              <a:grpSpLocks noChangeAspect="1"/>
            </p:cNvGrpSpPr>
            <p:nvPr/>
          </p:nvGrpSpPr>
          <p:grpSpPr>
            <a:xfrm rot="-10800000">
              <a:off x="0" y="526436"/>
              <a:ext cx="116986" cy="116986"/>
              <a:chOff x="0" y="0"/>
              <a:chExt cx="6355080" cy="635508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15" name="Group 15"/>
            <p:cNvGrpSpPr>
              <a:grpSpLocks noChangeAspect="1"/>
            </p:cNvGrpSpPr>
            <p:nvPr/>
          </p:nvGrpSpPr>
          <p:grpSpPr>
            <a:xfrm rot="-10800000">
              <a:off x="0" y="175479"/>
              <a:ext cx="116986" cy="116986"/>
              <a:chOff x="0" y="0"/>
              <a:chExt cx="6355080" cy="635508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17" name="Group 17"/>
            <p:cNvGrpSpPr/>
            <p:nvPr/>
          </p:nvGrpSpPr>
          <p:grpSpPr>
            <a:xfrm>
              <a:off x="0" y="0"/>
              <a:ext cx="116986" cy="116986"/>
              <a:chOff x="0" y="0"/>
              <a:chExt cx="6350000" cy="63500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</p:grpSp>
      <p:sp>
        <p:nvSpPr>
          <p:cNvPr id="19" name="TextBox 19"/>
          <p:cNvSpPr txBox="1"/>
          <p:nvPr/>
        </p:nvSpPr>
        <p:spPr>
          <a:xfrm>
            <a:off x="242924" y="716044"/>
            <a:ext cx="325383" cy="471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03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6383153" y="6602730"/>
            <a:ext cx="2498501" cy="637630"/>
            <a:chOff x="0" y="0"/>
            <a:chExt cx="3331335" cy="85017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80439" cy="850174"/>
            </a:xfrm>
            <a:custGeom>
              <a:avLst/>
              <a:gdLst/>
              <a:ahLst/>
              <a:cxnLst/>
              <a:rect l="l" t="t" r="r" b="b"/>
              <a:pathLst>
                <a:path w="880439" h="850174">
                  <a:moveTo>
                    <a:pt x="0" y="0"/>
                  </a:moveTo>
                  <a:lnTo>
                    <a:pt x="880439" y="0"/>
                  </a:lnTo>
                  <a:lnTo>
                    <a:pt x="880439" y="850174"/>
                  </a:lnTo>
                  <a:lnTo>
                    <a:pt x="0" y="850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1060899" y="14843"/>
              <a:ext cx="2270436" cy="835331"/>
            </a:xfrm>
            <a:custGeom>
              <a:avLst/>
              <a:gdLst/>
              <a:ahLst/>
              <a:cxnLst/>
              <a:rect l="l" t="t" r="r" b="b"/>
              <a:pathLst>
                <a:path w="2270436" h="835331">
                  <a:moveTo>
                    <a:pt x="0" y="0"/>
                  </a:moveTo>
                  <a:lnTo>
                    <a:pt x="2270436" y="0"/>
                  </a:lnTo>
                  <a:lnTo>
                    <a:pt x="2270436" y="835331"/>
                  </a:lnTo>
                  <a:lnTo>
                    <a:pt x="0" y="835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23" name="TextBox 22"/>
          <p:cNvSpPr txBox="1"/>
          <p:nvPr/>
        </p:nvSpPr>
        <p:spPr>
          <a:xfrm>
            <a:off x="1051560" y="1371600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E53935"/>
                </a:solidFill>
                <a:latin typeface="Arial"/>
              </a:rPr>
              <a:t>100% Deterministic, Offline-Capable Systems Pipeline &amp; 48-Hour MVP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1560" y="1874519"/>
            <a:ext cx="2468880" cy="4343400"/>
          </a:xfrm>
          <a:prstGeom prst="round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51560" y="1874519"/>
            <a:ext cx="2468880" cy="128016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61288" y="2057399"/>
            <a:ext cx="2249424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0F172A"/>
                </a:solidFill>
                <a:latin typeface="Arial"/>
              </a:rPr>
              <a:t>1. Systems Pipeline &amp; Stack</a:t>
            </a:r>
          </a:p>
          <a:p>
            <a:pPr>
              <a:lnSpc>
                <a:spcPct val="112000"/>
              </a:lnSpc>
              <a:spcBef>
                <a:spcPts val="200"/>
              </a:spcBef>
              <a:spcAft>
                <a:spcPts val="300"/>
              </a:spcAft>
            </a:pPr>
            <a:r>
              <a:rPr sz="880" b="1">
                <a:solidFill>
                  <a:srgbClr val="E53935"/>
                </a:solidFill>
                <a:latin typeface="Arial"/>
              </a:rPr>
              <a:t>• Client Telemetry SDK: </a:t>
            </a:r>
            <a:r>
              <a:rPr sz="840">
                <a:solidFill>
                  <a:srgbClr val="334155"/>
                </a:solidFill>
                <a:latin typeface="Arial"/>
              </a:rPr>
              <a:t>Lightweight unobtrusive JS event hooks capturing DOM events and route transitions in real time.</a:t>
            </a:r>
          </a:p>
          <a:p>
            <a:pPr>
              <a:lnSpc>
                <a:spcPct val="112000"/>
              </a:lnSpc>
              <a:spcBef>
                <a:spcPts val="200"/>
              </a:spcBef>
              <a:spcAft>
                <a:spcPts val="300"/>
              </a:spcAft>
            </a:pPr>
            <a:r>
              <a:rPr sz="880" b="1">
                <a:solidFill>
                  <a:srgbClr val="E53935"/>
                </a:solidFill>
                <a:latin typeface="Arial"/>
              </a:rPr>
              <a:t>• FastAPI Ingestion Engine: </a:t>
            </a:r>
            <a:r>
              <a:rPr sz="840">
                <a:solidFill>
                  <a:srgbClr val="334155"/>
                </a:solidFill>
                <a:latin typeface="Arial"/>
              </a:rPr>
              <a:t>High-throughput async ingestion normalizing raw telemetry into multi-variate feature vectors x in R^D.</a:t>
            </a:r>
          </a:p>
          <a:p>
            <a:pPr>
              <a:lnSpc>
                <a:spcPct val="112000"/>
              </a:lnSpc>
              <a:spcBef>
                <a:spcPts val="200"/>
              </a:spcBef>
              <a:spcAft>
                <a:spcPts val="300"/>
              </a:spcAft>
            </a:pPr>
            <a:r>
              <a:rPr sz="880" b="1">
                <a:solidFill>
                  <a:srgbClr val="E53935"/>
                </a:solidFill>
                <a:latin typeface="Arial"/>
              </a:rPr>
              <a:t>• NetworkX Graph Worker: </a:t>
            </a:r>
            <a:r>
              <a:rPr sz="840">
                <a:solidFill>
                  <a:srgbClr val="334155"/>
                </a:solidFill>
                <a:latin typeface="Arial"/>
              </a:rPr>
              <a:t>Evaluates multi-signal composite weights (S_comp &gt;= 0.78) and executes Louvain Community Detection to isolate fraud subgraphs.</a:t>
            </a:r>
          </a:p>
          <a:p>
            <a:pPr>
              <a:lnSpc>
                <a:spcPct val="112000"/>
              </a:lnSpc>
              <a:spcBef>
                <a:spcPts val="200"/>
              </a:spcBef>
              <a:spcAft>
                <a:spcPts val="300"/>
              </a:spcAft>
            </a:pPr>
            <a:r>
              <a:rPr sz="880" b="1">
                <a:solidFill>
                  <a:srgbClr val="E53935"/>
                </a:solidFill>
                <a:latin typeface="Arial"/>
              </a:rPr>
              <a:t>• Compliance Dashboard: </a:t>
            </a:r>
            <a:r>
              <a:rPr sz="840">
                <a:solidFill>
                  <a:srgbClr val="334155"/>
                </a:solidFill>
                <a:latin typeface="Arial"/>
              </a:rPr>
              <a:t>Next.js / Tailwind UI rendering real-time force-directed clusters and drill-down evidence cards.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49039" y="1874519"/>
            <a:ext cx="2468880" cy="4343400"/>
          </a:xfrm>
          <a:prstGeom prst="round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49039" y="1874519"/>
            <a:ext cx="2468880" cy="12801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58767" y="2057399"/>
            <a:ext cx="2249424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0F172A"/>
                </a:solidFill>
                <a:latin typeface="Arial"/>
              </a:rPr>
              <a:t>2. Local Offline Execution</a:t>
            </a:r>
          </a:p>
          <a:p>
            <a:pPr>
              <a:lnSpc>
                <a:spcPct val="112000"/>
              </a:lnSpc>
              <a:spcBef>
                <a:spcPts val="200"/>
              </a:spcBef>
              <a:spcAft>
                <a:spcPts val="300"/>
              </a:spcAft>
            </a:pPr>
            <a:r>
              <a:rPr sz="880" b="1">
                <a:solidFill>
                  <a:srgbClr val="0F172A"/>
                </a:solidFill>
                <a:latin typeface="Arial"/>
              </a:rPr>
              <a:t>• Zero Cloud API Reliance: </a:t>
            </a:r>
            <a:r>
              <a:rPr sz="840">
                <a:solidFill>
                  <a:srgbClr val="334155"/>
                </a:solidFill>
                <a:latin typeface="Arial"/>
              </a:rPr>
              <a:t>100% independent of OpenAI/Claude or external cloud endpoints; immune to rate limits or hackathon Wi-Fi drops.</a:t>
            </a:r>
          </a:p>
          <a:p>
            <a:pPr>
              <a:lnSpc>
                <a:spcPct val="112000"/>
              </a:lnSpc>
              <a:spcBef>
                <a:spcPts val="200"/>
              </a:spcBef>
              <a:spcAft>
                <a:spcPts val="300"/>
              </a:spcAft>
            </a:pPr>
            <a:r>
              <a:rPr sz="880" b="1">
                <a:solidFill>
                  <a:srgbClr val="0F172A"/>
                </a:solidFill>
                <a:latin typeface="Arial"/>
              </a:rPr>
              <a:t>• Sub-80ms Inference: </a:t>
            </a:r>
            <a:r>
              <a:rPr sz="840">
                <a:solidFill>
                  <a:srgbClr val="334155"/>
                </a:solidFill>
                <a:latin typeface="Arial"/>
              </a:rPr>
              <a:t>all-MiniLM-L6-v2 transformer (~90MB) executes CPU batch embeddings in &lt; 80ms on standard laptop hardware.</a:t>
            </a:r>
          </a:p>
          <a:p>
            <a:pPr>
              <a:lnSpc>
                <a:spcPct val="112000"/>
              </a:lnSpc>
              <a:spcBef>
                <a:spcPts val="200"/>
              </a:spcBef>
              <a:spcAft>
                <a:spcPts val="300"/>
              </a:spcAft>
            </a:pPr>
            <a:r>
              <a:rPr sz="880" b="1">
                <a:solidFill>
                  <a:srgbClr val="0F172A"/>
                </a:solidFill>
                <a:latin typeface="Arial"/>
              </a:rPr>
              <a:t>• Minimal Resource Footprint: </a:t>
            </a:r>
            <a:r>
              <a:rPr sz="840">
                <a:solidFill>
                  <a:srgbClr val="334155"/>
                </a:solidFill>
                <a:latin typeface="Arial"/>
              </a:rPr>
              <a:t>Full graph clustering across N=100 accounts takes &lt; 120ms with &lt; 150MB RAM memory footprint.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46520" y="1874519"/>
            <a:ext cx="2468880" cy="4343400"/>
          </a:xfrm>
          <a:prstGeom prst="round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46520" y="1874519"/>
            <a:ext cx="2468880" cy="12801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2057399"/>
            <a:ext cx="2249424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0F172A"/>
                </a:solidFill>
                <a:latin typeface="Arial"/>
              </a:rPr>
              <a:t>3. 48h Demo Benchmark</a:t>
            </a:r>
          </a:p>
          <a:p>
            <a:pPr>
              <a:lnSpc>
                <a:spcPct val="112000"/>
              </a:lnSpc>
              <a:spcBef>
                <a:spcPts val="200"/>
              </a:spcBef>
              <a:spcAft>
                <a:spcPts val="300"/>
              </a:spcAft>
            </a:pPr>
            <a:r>
              <a:rPr sz="880" b="1">
                <a:solidFill>
                  <a:srgbClr val="0F172A"/>
                </a:solidFill>
                <a:latin typeface="Arial"/>
              </a:rPr>
              <a:t>• Synthetic Evaluation Harness: </a:t>
            </a:r>
            <a:r>
              <a:rPr sz="840">
                <a:solidFill>
                  <a:srgbClr val="334155"/>
                </a:solidFill>
                <a:latin typeface="Arial"/>
              </a:rPr>
              <a:t>Simulates N=100 enterprise accounts: 70 Organic Users, 15 Synchronized Botnet Accounts, 10 Farm Users, 5 Outliers.</a:t>
            </a:r>
          </a:p>
          <a:p>
            <a:pPr>
              <a:lnSpc>
                <a:spcPct val="112000"/>
              </a:lnSpc>
              <a:spcBef>
                <a:spcPts val="200"/>
              </a:spcBef>
              <a:spcAft>
                <a:spcPts val="300"/>
              </a:spcAft>
            </a:pPr>
            <a:r>
              <a:rPr sz="880" b="1">
                <a:solidFill>
                  <a:srgbClr val="0F172A"/>
                </a:solidFill>
                <a:latin typeface="Arial"/>
              </a:rPr>
              <a:t>• Mathematical Convergence: </a:t>
            </a:r>
            <a:r>
              <a:rPr sz="840">
                <a:solidFill>
                  <a:srgbClr val="334155"/>
                </a:solidFill>
                <a:latin typeface="Arial"/>
              </a:rPr>
              <a:t>Edge creation requires P(Convergence) = prod P(Signal_k) crossing strict statistical thresholds.</a:t>
            </a:r>
          </a:p>
          <a:p>
            <a:pPr>
              <a:lnSpc>
                <a:spcPct val="112000"/>
              </a:lnSpc>
              <a:spcBef>
                <a:spcPts val="200"/>
              </a:spcBef>
              <a:spcAft>
                <a:spcPts val="300"/>
              </a:spcAft>
            </a:pPr>
            <a:r>
              <a:rPr sz="880" b="1">
                <a:solidFill>
                  <a:srgbClr val="0F172A"/>
                </a:solidFill>
                <a:latin typeface="Arial"/>
              </a:rPr>
              <a:t>• Benchmark Accuracy: </a:t>
            </a:r>
            <a:r>
              <a:rPr sz="840">
                <a:solidFill>
                  <a:srgbClr val="334155"/>
                </a:solidFill>
                <a:latin typeface="Arial"/>
              </a:rPr>
              <a:t>Empirically validated with F1-Score &gt; 0.94 and False Positive Rate &lt; 2.5%, proving statistical rigor.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017000" y="-40858"/>
            <a:ext cx="9525" cy="7556654"/>
          </a:xfrm>
          <a:prstGeom prst="rect">
            <a:avLst/>
          </a:prstGeom>
          <a:solidFill>
            <a:srgbClr val="000000"/>
          </a:solidFill>
        </p:spPr>
      </p:sp>
      <p:grpSp>
        <p:nvGrpSpPr>
          <p:cNvPr id="3" name="Group 3"/>
          <p:cNvGrpSpPr/>
          <p:nvPr/>
        </p:nvGrpSpPr>
        <p:grpSpPr>
          <a:xfrm>
            <a:off x="3204177" y="731520"/>
            <a:ext cx="4501240" cy="1218868"/>
            <a:chOff x="0" y="0"/>
            <a:chExt cx="6001653" cy="1625157"/>
          </a:xfrm>
        </p:grpSpPr>
        <p:sp>
          <p:nvSpPr>
            <p:cNvPr id="4" name="TextBox 4"/>
            <p:cNvSpPr txBox="1"/>
            <p:nvPr/>
          </p:nvSpPr>
          <p:spPr>
            <a:xfrm>
              <a:off x="0" y="1333683"/>
              <a:ext cx="6001653" cy="2914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/>
          </p:txBody>
        </p:sp>
        <p:sp>
          <p:nvSpPr>
            <p:cNvPr id="5" name="TextBox 5"/>
            <p:cNvSpPr txBox="1"/>
            <p:nvPr/>
          </p:nvSpPr>
          <p:spPr>
            <a:xfrm>
              <a:off x="0" y="28575"/>
              <a:ext cx="6001653" cy="7553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06"/>
                </a:lnSpc>
              </a:pPr>
              <a:r>
                <a:rPr lang="en-US" sz="3880" b="1" spc="62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Conclusion</a:t>
              </a:r>
            </a:p>
          </p:txBody>
        </p:sp>
      </p:grpSp>
      <p:sp>
        <p:nvSpPr>
          <p:cNvPr id="6" name="AutoShape 6"/>
          <p:cNvSpPr/>
          <p:nvPr/>
        </p:nvSpPr>
        <p:spPr>
          <a:xfrm>
            <a:off x="731520" y="0"/>
            <a:ext cx="9525" cy="73152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7" name="Freeform 7"/>
          <p:cNvSpPr/>
          <p:nvPr/>
        </p:nvSpPr>
        <p:spPr>
          <a:xfrm>
            <a:off x="2370677" y="1151477"/>
            <a:ext cx="5012247" cy="5012247"/>
          </a:xfrm>
          <a:custGeom>
            <a:avLst/>
            <a:gdLst/>
            <a:ahLst/>
            <a:cxnLst/>
            <a:rect l="l" t="t" r="r" b="b"/>
            <a:pathLst>
              <a:path w="5012247" h="5012247">
                <a:moveTo>
                  <a:pt x="0" y="0"/>
                </a:moveTo>
                <a:lnTo>
                  <a:pt x="5012246" y="0"/>
                </a:lnTo>
                <a:lnTo>
                  <a:pt x="5012246" y="5012246"/>
                </a:lnTo>
                <a:lnTo>
                  <a:pt x="0" y="50122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325798" y="6718362"/>
            <a:ext cx="87739" cy="482566"/>
            <a:chOff x="0" y="0"/>
            <a:chExt cx="116986" cy="643422"/>
          </a:xfrm>
        </p:grpSpPr>
        <p:grpSp>
          <p:nvGrpSpPr>
            <p:cNvPr id="9" name="Group 9"/>
            <p:cNvGrpSpPr>
              <a:grpSpLocks noChangeAspect="1"/>
            </p:cNvGrpSpPr>
            <p:nvPr/>
          </p:nvGrpSpPr>
          <p:grpSpPr>
            <a:xfrm rot="-10800000">
              <a:off x="0" y="350957"/>
              <a:ext cx="116986" cy="116986"/>
              <a:chOff x="0" y="0"/>
              <a:chExt cx="6355080" cy="635508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 rot="-10800000">
              <a:off x="0" y="526436"/>
              <a:ext cx="116986" cy="116986"/>
              <a:chOff x="0" y="0"/>
              <a:chExt cx="6355080" cy="635508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13" name="Group 13"/>
            <p:cNvGrpSpPr>
              <a:grpSpLocks noChangeAspect="1"/>
            </p:cNvGrpSpPr>
            <p:nvPr/>
          </p:nvGrpSpPr>
          <p:grpSpPr>
            <a:xfrm rot="-10800000">
              <a:off x="0" y="175479"/>
              <a:ext cx="116986" cy="116986"/>
              <a:chOff x="0" y="0"/>
              <a:chExt cx="6355080" cy="635508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15" name="Group 15"/>
            <p:cNvGrpSpPr/>
            <p:nvPr/>
          </p:nvGrpSpPr>
          <p:grpSpPr>
            <a:xfrm>
              <a:off x="0" y="0"/>
              <a:ext cx="116986" cy="116986"/>
              <a:chOff x="0" y="0"/>
              <a:chExt cx="6350000" cy="6350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</p:grpSp>
      <p:sp>
        <p:nvSpPr>
          <p:cNvPr id="17" name="AutoShape 17"/>
          <p:cNvSpPr/>
          <p:nvPr/>
        </p:nvSpPr>
        <p:spPr>
          <a:xfrm>
            <a:off x="0" y="6564582"/>
            <a:ext cx="9017000" cy="9573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8" name="TextBox 18"/>
          <p:cNvSpPr txBox="1"/>
          <p:nvPr/>
        </p:nvSpPr>
        <p:spPr>
          <a:xfrm>
            <a:off x="9245141" y="486300"/>
            <a:ext cx="325383" cy="471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04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6383153" y="6602730"/>
            <a:ext cx="2498501" cy="637630"/>
            <a:chOff x="0" y="0"/>
            <a:chExt cx="3331335" cy="85017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80439" cy="850174"/>
            </a:xfrm>
            <a:custGeom>
              <a:avLst/>
              <a:gdLst/>
              <a:ahLst/>
              <a:cxnLst/>
              <a:rect l="l" t="t" r="r" b="b"/>
              <a:pathLst>
                <a:path w="880439" h="850174">
                  <a:moveTo>
                    <a:pt x="0" y="0"/>
                  </a:moveTo>
                  <a:lnTo>
                    <a:pt x="880439" y="0"/>
                  </a:lnTo>
                  <a:lnTo>
                    <a:pt x="880439" y="850174"/>
                  </a:lnTo>
                  <a:lnTo>
                    <a:pt x="0" y="850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21" name="Freeform 21"/>
            <p:cNvSpPr/>
            <p:nvPr/>
          </p:nvSpPr>
          <p:spPr>
            <a:xfrm>
              <a:off x="1060899" y="14843"/>
              <a:ext cx="2270436" cy="835331"/>
            </a:xfrm>
            <a:custGeom>
              <a:avLst/>
              <a:gdLst/>
              <a:ahLst/>
              <a:cxnLst/>
              <a:rect l="l" t="t" r="r" b="b"/>
              <a:pathLst>
                <a:path w="2270436" h="835331">
                  <a:moveTo>
                    <a:pt x="0" y="0"/>
                  </a:moveTo>
                  <a:lnTo>
                    <a:pt x="2270436" y="0"/>
                  </a:lnTo>
                  <a:lnTo>
                    <a:pt x="2270436" y="835331"/>
                  </a:lnTo>
                  <a:lnTo>
                    <a:pt x="0" y="835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22" name="TextBox 21"/>
          <p:cNvSpPr txBox="1"/>
          <p:nvPr/>
        </p:nvSpPr>
        <p:spPr>
          <a:xfrm>
            <a:off x="1051560" y="1371600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E53935"/>
                </a:solidFill>
                <a:latin typeface="Arial"/>
              </a:rPr>
              <a:t>Transforming Opaque Risk Scores into Actionable Forensic Intelligence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1560" y="1874519"/>
            <a:ext cx="2468880" cy="4343400"/>
          </a:xfrm>
          <a:prstGeom prst="round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51560" y="1874519"/>
            <a:ext cx="2468880" cy="128016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61288" y="2057399"/>
            <a:ext cx="2249424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0F172A"/>
                </a:solidFill>
                <a:latin typeface="Arial"/>
              </a:rPr>
              <a:t>1. Blast-Radius Containment</a:t>
            </a:r>
          </a:p>
          <a:p>
            <a:pPr>
              <a:lnSpc>
                <a:spcPct val="112000"/>
              </a:lnSpc>
              <a:spcBef>
                <a:spcPts val="200"/>
              </a:spcBef>
              <a:spcAft>
                <a:spcPts val="300"/>
              </a:spcAft>
            </a:pPr>
            <a:r>
              <a:rPr sz="880" b="1">
                <a:solidFill>
                  <a:srgbClr val="E53935"/>
                </a:solidFill>
                <a:latin typeface="Arial"/>
              </a:rPr>
              <a:t>• Uncontained Baseline: </a:t>
            </a:r>
            <a:r>
              <a:rPr sz="840">
                <a:solidFill>
                  <a:srgbClr val="334155"/>
                </a:solidFill>
                <a:latin typeface="Arial"/>
              </a:rPr>
              <a:t>A 15-node AI botnet remains active for weeks, harvesting Rs 4.5L+ in promotional bonuses and reaching 12,000+ users.</a:t>
            </a:r>
          </a:p>
          <a:p>
            <a:pPr>
              <a:lnSpc>
                <a:spcPct val="112000"/>
              </a:lnSpc>
              <a:spcBef>
                <a:spcPts val="200"/>
              </a:spcBef>
              <a:spcAft>
                <a:spcPts val="300"/>
              </a:spcAft>
            </a:pPr>
            <a:r>
              <a:rPr sz="880" b="1">
                <a:solidFill>
                  <a:srgbClr val="E53935"/>
                </a:solidFill>
                <a:latin typeface="Arial"/>
              </a:rPr>
              <a:t>• With ShadowGram: </a:t>
            </a:r>
            <a:r>
              <a:rPr sz="840">
                <a:solidFill>
                  <a:srgbClr val="334155"/>
                </a:solidFill>
                <a:latin typeface="Arial"/>
              </a:rPr>
              <a:t>Syndicate is unmasked upon the 3rd synchronized action; automated quarantine limits blast radius to &lt; 100 users.</a:t>
            </a:r>
          </a:p>
          <a:p>
            <a:pPr>
              <a:lnSpc>
                <a:spcPct val="112000"/>
              </a:lnSpc>
              <a:spcBef>
                <a:spcPts val="200"/>
              </a:spcBef>
              <a:spcAft>
                <a:spcPts val="300"/>
              </a:spcAft>
            </a:pPr>
            <a:r>
              <a:rPr sz="880" b="1">
                <a:solidFill>
                  <a:srgbClr val="E53935"/>
                </a:solidFill>
                <a:latin typeface="Arial"/>
              </a:rPr>
              <a:t>• Proactive Containment: </a:t>
            </a:r>
            <a:r>
              <a:rPr sz="840">
                <a:solidFill>
                  <a:srgbClr val="334155"/>
                </a:solidFill>
                <a:latin typeface="Arial"/>
              </a:rPr>
              <a:t>Triggers step-up authentication (WebAuthn/FIDO2) or quarantine rather than blunt, disruptive account bans.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49039" y="1874519"/>
            <a:ext cx="2468880" cy="4343400"/>
          </a:xfrm>
          <a:prstGeom prst="round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749039" y="1874519"/>
            <a:ext cx="2468880" cy="12801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58767" y="2057399"/>
            <a:ext cx="2249424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0F172A"/>
                </a:solidFill>
                <a:latin typeface="Arial"/>
              </a:rPr>
              <a:t>2. Drop-In Enterprise Fit</a:t>
            </a:r>
          </a:p>
          <a:p>
            <a:pPr>
              <a:lnSpc>
                <a:spcPct val="112000"/>
              </a:lnSpc>
              <a:spcBef>
                <a:spcPts val="200"/>
              </a:spcBef>
              <a:spcAft>
                <a:spcPts val="300"/>
              </a:spcAft>
            </a:pPr>
            <a:r>
              <a:rPr sz="880" b="1">
                <a:solidFill>
                  <a:srgbClr val="0F172A"/>
                </a:solidFill>
                <a:latin typeface="Arial"/>
              </a:rPr>
              <a:t>• Lightweight Client SDK: </a:t>
            </a:r>
            <a:r>
              <a:rPr sz="840">
                <a:solidFill>
                  <a:srgbClr val="334155"/>
                </a:solidFill>
                <a:latin typeface="Arial"/>
              </a:rPr>
              <a:t>Embeds directly into banking web portals, fintech onboarding, or community platforms in &lt; 10 lines of code.</a:t>
            </a:r>
          </a:p>
          <a:p>
            <a:pPr>
              <a:lnSpc>
                <a:spcPct val="112000"/>
              </a:lnSpc>
              <a:spcBef>
                <a:spcPts val="200"/>
              </a:spcBef>
              <a:spcAft>
                <a:spcPts val="300"/>
              </a:spcAft>
            </a:pPr>
            <a:r>
              <a:rPr sz="880" b="1">
                <a:solidFill>
                  <a:srgbClr val="0F172A"/>
                </a:solidFill>
                <a:latin typeface="Arial"/>
              </a:rPr>
              <a:t>• REST &amp; WebSocket Webhooks: </a:t>
            </a:r>
            <a:r>
              <a:rPr sz="840">
                <a:solidFill>
                  <a:srgbClr val="334155"/>
                </a:solidFill>
                <a:latin typeface="Arial"/>
              </a:rPr>
              <a:t>Exposes real-time alert webhooks for incident response (SIEM/SOAR integration).</a:t>
            </a:r>
          </a:p>
          <a:p>
            <a:pPr>
              <a:lnSpc>
                <a:spcPct val="112000"/>
              </a:lnSpc>
              <a:spcBef>
                <a:spcPts val="200"/>
              </a:spcBef>
              <a:spcAft>
                <a:spcPts val="300"/>
              </a:spcAft>
            </a:pPr>
            <a:r>
              <a:rPr sz="880" b="1">
                <a:solidFill>
                  <a:srgbClr val="0F172A"/>
                </a:solidFill>
                <a:latin typeface="Arial"/>
              </a:rPr>
              <a:t>• Privacy &amp; DPDP Compliance: </a:t>
            </a:r>
            <a:r>
              <a:rPr sz="840">
                <a:solidFill>
                  <a:srgbClr val="334155"/>
                </a:solidFill>
                <a:latin typeface="Arial"/>
              </a:rPr>
              <a:t>Client-side cryptographic telemetry hashing (no sensitive PII or password logging; DPDP Act compliant).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1874519"/>
            <a:ext cx="2468880" cy="4343400"/>
          </a:xfrm>
          <a:prstGeom prst="round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46520" y="1874519"/>
            <a:ext cx="2468880" cy="12801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56248" y="2057399"/>
            <a:ext cx="2249424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0F172A"/>
                </a:solidFill>
                <a:latin typeface="Arial"/>
              </a:rPr>
              <a:t>3. The Final Winning Takeaway</a:t>
            </a:r>
          </a:p>
          <a:p>
            <a:pPr>
              <a:lnSpc>
                <a:spcPct val="112000"/>
              </a:lnSpc>
              <a:spcBef>
                <a:spcPts val="200"/>
              </a:spcBef>
              <a:spcAft>
                <a:spcPts val="300"/>
              </a:spcAft>
            </a:pPr>
            <a:r>
              <a:rPr sz="880" b="1">
                <a:solidFill>
                  <a:srgbClr val="0F172A"/>
                </a:solidFill>
                <a:latin typeface="Arial"/>
              </a:rPr>
              <a:t>• Beyond Black Boxes: </a:t>
            </a:r>
            <a:r>
              <a:rPr sz="840">
                <a:solidFill>
                  <a:srgbClr val="334155"/>
                </a:solidFill>
                <a:latin typeface="Arial"/>
              </a:rPr>
              <a:t>'Most fraud systems output an unexplainable number. ShadowGram delivers an inspectable evidence trail built on multi-signal convergence.'</a:t>
            </a:r>
          </a:p>
          <a:p>
            <a:pPr>
              <a:lnSpc>
                <a:spcPct val="112000"/>
              </a:lnSpc>
              <a:spcBef>
                <a:spcPts val="200"/>
              </a:spcBef>
              <a:spcAft>
                <a:spcPts val="300"/>
              </a:spcAft>
            </a:pPr>
            <a:r>
              <a:rPr sz="880" b="1">
                <a:solidFill>
                  <a:srgbClr val="0F172A"/>
                </a:solidFill>
                <a:latin typeface="Arial"/>
              </a:rPr>
              <a:t>• Judicial Trust: </a:t>
            </a:r>
            <a:r>
              <a:rPr sz="840">
                <a:solidFill>
                  <a:srgbClr val="334155"/>
                </a:solidFill>
                <a:latin typeface="Arial"/>
              </a:rPr>
              <a:t>Gives fraud analysts, compliance officers, and hackathon evaluators an auditable defense system they can verify and trust.</a:t>
            </a:r>
          </a:p>
          <a:p>
            <a:pPr>
              <a:lnSpc>
                <a:spcPct val="112000"/>
              </a:lnSpc>
              <a:spcBef>
                <a:spcPts val="200"/>
              </a:spcBef>
              <a:spcAft>
                <a:spcPts val="300"/>
              </a:spcAft>
            </a:pPr>
            <a:r>
              <a:rPr sz="880" b="1">
                <a:solidFill>
                  <a:srgbClr val="0F172A"/>
                </a:solidFill>
                <a:latin typeface="Arial"/>
              </a:rPr>
              <a:t>• Demonstrable in 3 Minutes: </a:t>
            </a:r>
            <a:r>
              <a:rPr sz="840">
                <a:solidFill>
                  <a:srgbClr val="334155"/>
                </a:solidFill>
                <a:latin typeface="Arial"/>
              </a:rPr>
              <a:t>Complete end-to-end working loop ready for live physical adjudication at Jyothi Engineering College.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</Words>
  <Application>Microsoft Office PowerPoint</Application>
  <PresentationFormat>Custom</PresentationFormat>
  <Paragraphs>20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Name</dc:title>
  <cp:lastModifiedBy>Abhinav .S. Rajesh</cp:lastModifiedBy>
  <cp:revision>3</cp:revision>
  <dcterms:created xsi:type="dcterms:W3CDTF">2006-08-16T00:00:00Z</dcterms:created>
  <dcterms:modified xsi:type="dcterms:W3CDTF">2026-09-16T05:34:18Z</dcterms:modified>
  <dc:identifier>DAHVPFeyr-A</dc:identifier>
</cp:coreProperties>
</file>