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753600" cy="7315200"/>
  <p:notesSz cx="6858000" cy="9144000"/>
  <p:embeddedFontLst>
    <p:embeddedFont>
      <p:font typeface="Calibri" panose="020F0502020204030204" pitchFamily="34" charset="0"/>
      <p:regular r:id="rId7"/>
      <p:bold r:id="rId8"/>
      <p:italic r:id="rId9"/>
      <p:boldItalic r:id="rId10"/>
    </p:embeddedFont>
    <p:embeddedFont>
      <p:font typeface="Computer Says No" pitchFamily="2" charset="0"/>
      <p:regular r:id="rId11"/>
    </p:embeddedFont>
    <p:embeddedFont>
      <p:font typeface="Montserrat" pitchFamily="2" charset="0"/>
      <p:regular r:id="rId12"/>
    </p:embeddedFont>
    <p:embeddedFont>
      <p:font typeface="Montserrat Bold"/>
      <p:regular r:id="rId13"/>
    </p:embeddedFont>
    <p:embeddedFont>
      <p:font typeface="Montserrat Light" panose="00000400000000000000" pitchFamily="2" charset="0"/>
      <p:regular r:id="rId14"/>
    </p:embeddedFont>
    <p:embeddedFont>
      <p:font typeface="Roboto" panose="02000000000000000000" pitchFamily="2" charset="0"/>
      <p:regular r:id="rId15"/>
    </p:embeddedFont>
    <p:embeddedFont>
      <p:font typeface="Roboto Bold" panose="02000000000000000000" pitchFamily="2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81" d="100"/>
          <a:sy n="81" d="100"/>
        </p:scale>
        <p:origin x="134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 /><Relationship Id="rId13" Type="http://schemas.openxmlformats.org/officeDocument/2006/relationships/font" Target="fonts/font7.fntdata" /><Relationship Id="rId1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font" Target="fonts/font1.fntdata" /><Relationship Id="rId12" Type="http://schemas.openxmlformats.org/officeDocument/2006/relationships/font" Target="fonts/font6.fntdata" /><Relationship Id="rId17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font" Target="fonts/font10.fntdata" /><Relationship Id="rId2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font" Target="fonts/font5.fntdata" /><Relationship Id="rId5" Type="http://schemas.openxmlformats.org/officeDocument/2006/relationships/slide" Target="slides/slide4.xml" /><Relationship Id="rId15" Type="http://schemas.openxmlformats.org/officeDocument/2006/relationships/font" Target="fonts/font9.fntdata" /><Relationship Id="rId10" Type="http://schemas.openxmlformats.org/officeDocument/2006/relationships/font" Target="fonts/font4.fntdata" /><Relationship Id="rId19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font" Target="fonts/font3.fntdata" /><Relationship Id="rId14" Type="http://schemas.openxmlformats.org/officeDocument/2006/relationships/font" Target="fonts/font8.fntdata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pn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31520" y="0"/>
            <a:ext cx="9525" cy="7666245"/>
          </a:xfrm>
          <a:prstGeom prst="rect">
            <a:avLst/>
          </a:prstGeom>
          <a:solidFill>
            <a:srgbClr val="000000"/>
          </a:solidFill>
        </p:spPr>
      </p:sp>
      <p:grpSp>
        <p:nvGrpSpPr>
          <p:cNvPr id="3" name="Group 3"/>
          <p:cNvGrpSpPr/>
          <p:nvPr/>
        </p:nvGrpSpPr>
        <p:grpSpPr>
          <a:xfrm>
            <a:off x="325798" y="6669405"/>
            <a:ext cx="87739" cy="482566"/>
            <a:chOff x="0" y="0"/>
            <a:chExt cx="116986" cy="643422"/>
          </a:xfrm>
        </p:grpSpPr>
        <p:grpSp>
          <p:nvGrpSpPr>
            <p:cNvPr id="4" name="Group 4"/>
            <p:cNvGrpSpPr>
              <a:grpSpLocks noChangeAspect="1"/>
            </p:cNvGrpSpPr>
            <p:nvPr/>
          </p:nvGrpSpPr>
          <p:grpSpPr>
            <a:xfrm rot="-10800000">
              <a:off x="0" y="350957"/>
              <a:ext cx="116986" cy="116986"/>
              <a:chOff x="0" y="0"/>
              <a:chExt cx="6355080" cy="635508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6" name="Group 6"/>
            <p:cNvGrpSpPr>
              <a:grpSpLocks noChangeAspect="1"/>
            </p:cNvGrpSpPr>
            <p:nvPr/>
          </p:nvGrpSpPr>
          <p:grpSpPr>
            <a:xfrm rot="-10800000">
              <a:off x="0" y="526436"/>
              <a:ext cx="116986" cy="116986"/>
              <a:chOff x="0" y="0"/>
              <a:chExt cx="6355080" cy="635508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8" name="Group 8"/>
            <p:cNvGrpSpPr>
              <a:grpSpLocks noChangeAspect="1"/>
            </p:cNvGrpSpPr>
            <p:nvPr/>
          </p:nvGrpSpPr>
          <p:grpSpPr>
            <a:xfrm rot="-10800000">
              <a:off x="0" y="175479"/>
              <a:ext cx="116986" cy="116986"/>
              <a:chOff x="0" y="0"/>
              <a:chExt cx="6355080" cy="635508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10" name="Group 10"/>
            <p:cNvGrpSpPr/>
            <p:nvPr/>
          </p:nvGrpSpPr>
          <p:grpSpPr>
            <a:xfrm>
              <a:off x="0" y="0"/>
              <a:ext cx="116986" cy="116986"/>
              <a:chOff x="0" y="0"/>
              <a:chExt cx="6350000" cy="6350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</p:grpSp>
      <p:sp>
        <p:nvSpPr>
          <p:cNvPr id="12" name="AutoShape 12"/>
          <p:cNvSpPr/>
          <p:nvPr/>
        </p:nvSpPr>
        <p:spPr>
          <a:xfrm>
            <a:off x="9012555" y="0"/>
            <a:ext cx="9525" cy="7666245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3" name="AutoShape 13"/>
          <p:cNvSpPr/>
          <p:nvPr/>
        </p:nvSpPr>
        <p:spPr>
          <a:xfrm>
            <a:off x="-186703" y="4783112"/>
            <a:ext cx="10038632" cy="2362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4" name="Freeform 14"/>
          <p:cNvSpPr/>
          <p:nvPr/>
        </p:nvSpPr>
        <p:spPr>
          <a:xfrm>
            <a:off x="2370677" y="1151477"/>
            <a:ext cx="5012247" cy="5012247"/>
          </a:xfrm>
          <a:custGeom>
            <a:avLst/>
            <a:gdLst/>
            <a:ahLst/>
            <a:cxnLst/>
            <a:rect l="l" t="t" r="r" b="b"/>
            <a:pathLst>
              <a:path w="5012247" h="5012247">
                <a:moveTo>
                  <a:pt x="0" y="0"/>
                </a:moveTo>
                <a:lnTo>
                  <a:pt x="5012246" y="0"/>
                </a:lnTo>
                <a:lnTo>
                  <a:pt x="5012246" y="5012246"/>
                </a:lnTo>
                <a:lnTo>
                  <a:pt x="0" y="50122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6455032" y="93890"/>
            <a:ext cx="660329" cy="637630"/>
          </a:xfrm>
          <a:custGeom>
            <a:avLst/>
            <a:gdLst/>
            <a:ahLst/>
            <a:cxnLst/>
            <a:rect l="l" t="t" r="r" b="b"/>
            <a:pathLst>
              <a:path w="660329" h="637630">
                <a:moveTo>
                  <a:pt x="0" y="0"/>
                </a:moveTo>
                <a:lnTo>
                  <a:pt x="660329" y="0"/>
                </a:lnTo>
                <a:lnTo>
                  <a:pt x="660329" y="637630"/>
                </a:lnTo>
                <a:lnTo>
                  <a:pt x="0" y="6376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6" name="AutoShape 16"/>
          <p:cNvSpPr/>
          <p:nvPr/>
        </p:nvSpPr>
        <p:spPr>
          <a:xfrm>
            <a:off x="0" y="770429"/>
            <a:ext cx="9017000" cy="9573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7" name="Freeform 17"/>
          <p:cNvSpPr/>
          <p:nvPr/>
        </p:nvSpPr>
        <p:spPr>
          <a:xfrm>
            <a:off x="7192423" y="105022"/>
            <a:ext cx="1702827" cy="626498"/>
          </a:xfrm>
          <a:custGeom>
            <a:avLst/>
            <a:gdLst/>
            <a:ahLst/>
            <a:cxnLst/>
            <a:rect l="l" t="t" r="r" b="b"/>
            <a:pathLst>
              <a:path w="1702827" h="626498">
                <a:moveTo>
                  <a:pt x="0" y="0"/>
                </a:moveTo>
                <a:lnTo>
                  <a:pt x="1702827" y="0"/>
                </a:lnTo>
                <a:lnTo>
                  <a:pt x="1702827" y="626498"/>
                </a:lnTo>
                <a:lnTo>
                  <a:pt x="0" y="6264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1390205" y="1827655"/>
            <a:ext cx="7177893" cy="1862020"/>
            <a:chOff x="0" y="0"/>
            <a:chExt cx="9570524" cy="2482693"/>
          </a:xfrm>
        </p:grpSpPr>
        <p:sp>
          <p:nvSpPr>
            <p:cNvPr id="19" name="TextBox 19"/>
            <p:cNvSpPr txBox="1"/>
            <p:nvPr/>
          </p:nvSpPr>
          <p:spPr>
            <a:xfrm>
              <a:off x="0" y="104775"/>
              <a:ext cx="9570524" cy="13167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280"/>
                </a:lnSpc>
              </a:pPr>
              <a:r>
                <a:rPr lang="en-US" sz="7000" b="1" spc="112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Project Name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2139170"/>
              <a:ext cx="9570524" cy="3435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71"/>
                </a:lnSpc>
              </a:pPr>
              <a:r>
                <a:rPr lang="en-US" sz="1551" spc="186">
                  <a:solidFill>
                    <a:srgbClr val="000000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TAGLINE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007504" y="5170931"/>
            <a:ext cx="530328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21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 NAME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07504" y="5726023"/>
            <a:ext cx="530328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1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College Name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409904" y="5106021"/>
            <a:ext cx="530328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1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Team Members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017000" y="0"/>
            <a:ext cx="9525" cy="748583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" name="TextBox 3"/>
          <p:cNvSpPr txBox="1"/>
          <p:nvPr/>
        </p:nvSpPr>
        <p:spPr>
          <a:xfrm>
            <a:off x="1130741" y="445089"/>
            <a:ext cx="5347662" cy="1241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4"/>
              </a:lnSpc>
            </a:pPr>
            <a:r>
              <a:rPr lang="en-US" sz="4364" b="1" spc="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is being Faked/Exploited?</a:t>
            </a:r>
          </a:p>
        </p:txBody>
      </p:sp>
      <p:sp>
        <p:nvSpPr>
          <p:cNvPr id="4" name="AutoShape 4"/>
          <p:cNvSpPr/>
          <p:nvPr/>
        </p:nvSpPr>
        <p:spPr>
          <a:xfrm>
            <a:off x="-2787" y="0"/>
            <a:ext cx="738752" cy="168623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5" name="AutoShape 5"/>
          <p:cNvSpPr/>
          <p:nvPr/>
        </p:nvSpPr>
        <p:spPr>
          <a:xfrm>
            <a:off x="726440" y="127699"/>
            <a:ext cx="9525" cy="7440426"/>
          </a:xfrm>
          <a:prstGeom prst="rect">
            <a:avLst/>
          </a:prstGeom>
          <a:solidFill>
            <a:srgbClr val="000000"/>
          </a:solidFill>
        </p:spPr>
      </p:sp>
      <p:grpSp>
        <p:nvGrpSpPr>
          <p:cNvPr id="6" name="Group 6"/>
          <p:cNvGrpSpPr/>
          <p:nvPr/>
        </p:nvGrpSpPr>
        <p:grpSpPr>
          <a:xfrm>
            <a:off x="325798" y="6680262"/>
            <a:ext cx="87739" cy="482566"/>
            <a:chOff x="0" y="0"/>
            <a:chExt cx="116986" cy="643422"/>
          </a:xfrm>
        </p:grpSpPr>
        <p:grpSp>
          <p:nvGrpSpPr>
            <p:cNvPr id="7" name="Group 7"/>
            <p:cNvGrpSpPr>
              <a:grpSpLocks noChangeAspect="1"/>
            </p:cNvGrpSpPr>
            <p:nvPr/>
          </p:nvGrpSpPr>
          <p:grpSpPr>
            <a:xfrm rot="-10800000">
              <a:off x="0" y="350957"/>
              <a:ext cx="116986" cy="116986"/>
              <a:chOff x="0" y="0"/>
              <a:chExt cx="6355080" cy="635508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9" name="Group 9"/>
            <p:cNvGrpSpPr>
              <a:grpSpLocks noChangeAspect="1"/>
            </p:cNvGrpSpPr>
            <p:nvPr/>
          </p:nvGrpSpPr>
          <p:grpSpPr>
            <a:xfrm rot="-10800000">
              <a:off x="0" y="526436"/>
              <a:ext cx="116986" cy="116986"/>
              <a:chOff x="0" y="0"/>
              <a:chExt cx="6355080" cy="635508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 rot="-10800000">
              <a:off x="0" y="175479"/>
              <a:ext cx="116986" cy="116986"/>
              <a:chOff x="0" y="0"/>
              <a:chExt cx="6355080" cy="635508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13" name="Group 13"/>
            <p:cNvGrpSpPr/>
            <p:nvPr/>
          </p:nvGrpSpPr>
          <p:grpSpPr>
            <a:xfrm>
              <a:off x="0" y="0"/>
              <a:ext cx="116986" cy="116986"/>
              <a:chOff x="0" y="0"/>
              <a:chExt cx="6350000" cy="6350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</p:grpSp>
      <p:sp>
        <p:nvSpPr>
          <p:cNvPr id="15" name="TextBox 15"/>
          <p:cNvSpPr txBox="1"/>
          <p:nvPr/>
        </p:nvSpPr>
        <p:spPr>
          <a:xfrm>
            <a:off x="1170956" y="2759024"/>
            <a:ext cx="6607850" cy="603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447"/>
              </a:lnSpc>
            </a:pPr>
            <a:r>
              <a:rPr lang="en-US" sz="1748" spc="209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Briefly explain the fraud scenario and how it happens</a:t>
            </a:r>
          </a:p>
          <a:p>
            <a:pPr algn="just">
              <a:lnSpc>
                <a:spcPts val="2447"/>
              </a:lnSpc>
              <a:spcBef>
                <a:spcPct val="0"/>
              </a:spcBef>
            </a:pPr>
            <a:r>
              <a:rPr lang="en-US" sz="1748" spc="209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Identify </a:t>
            </a:r>
            <a:r>
              <a:rPr lang="en-US" sz="1748" spc="209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victim,target,business</a:t>
            </a:r>
            <a:endParaRPr lang="en-US" sz="1748" spc="209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170956" y="2174774"/>
            <a:ext cx="3181969" cy="3574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7"/>
              </a:lnSpc>
              <a:spcBef>
                <a:spcPct val="0"/>
              </a:spcBef>
            </a:pPr>
            <a:r>
              <a:rPr lang="en-US" sz="2147" b="1" spc="257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Problem Description</a:t>
            </a:r>
          </a:p>
        </p:txBody>
      </p:sp>
      <p:sp>
        <p:nvSpPr>
          <p:cNvPr id="17" name="Freeform 17"/>
          <p:cNvSpPr/>
          <p:nvPr/>
        </p:nvSpPr>
        <p:spPr>
          <a:xfrm>
            <a:off x="2370677" y="1151477"/>
            <a:ext cx="5012247" cy="5012247"/>
          </a:xfrm>
          <a:custGeom>
            <a:avLst/>
            <a:gdLst/>
            <a:ahLst/>
            <a:cxnLst/>
            <a:rect l="l" t="t" r="r" b="b"/>
            <a:pathLst>
              <a:path w="5012247" h="5012247">
                <a:moveTo>
                  <a:pt x="0" y="0"/>
                </a:moveTo>
                <a:lnTo>
                  <a:pt x="5012246" y="0"/>
                </a:lnTo>
                <a:lnTo>
                  <a:pt x="5012246" y="5012246"/>
                </a:lnTo>
                <a:lnTo>
                  <a:pt x="0" y="50122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/>
            </a:stretch>
          </a:blipFill>
        </p:spPr>
      </p:sp>
      <p:sp>
        <p:nvSpPr>
          <p:cNvPr id="18" name="AutoShape 18"/>
          <p:cNvSpPr/>
          <p:nvPr/>
        </p:nvSpPr>
        <p:spPr>
          <a:xfrm>
            <a:off x="0" y="6555057"/>
            <a:ext cx="9017000" cy="9573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9" name="TextBox 19"/>
          <p:cNvSpPr txBox="1"/>
          <p:nvPr/>
        </p:nvSpPr>
        <p:spPr>
          <a:xfrm>
            <a:off x="241321" y="712470"/>
            <a:ext cx="325383" cy="471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01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6383153" y="6602730"/>
            <a:ext cx="2498501" cy="637630"/>
            <a:chOff x="0" y="0"/>
            <a:chExt cx="3331335" cy="85017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80439" cy="850174"/>
            </a:xfrm>
            <a:custGeom>
              <a:avLst/>
              <a:gdLst/>
              <a:ahLst/>
              <a:cxnLst/>
              <a:rect l="l" t="t" r="r" b="b"/>
              <a:pathLst>
                <a:path w="880439" h="850174">
                  <a:moveTo>
                    <a:pt x="0" y="0"/>
                  </a:moveTo>
                  <a:lnTo>
                    <a:pt x="880439" y="0"/>
                  </a:lnTo>
                  <a:lnTo>
                    <a:pt x="880439" y="850174"/>
                  </a:lnTo>
                  <a:lnTo>
                    <a:pt x="0" y="850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1060899" y="14843"/>
              <a:ext cx="2270436" cy="835331"/>
            </a:xfrm>
            <a:custGeom>
              <a:avLst/>
              <a:gdLst/>
              <a:ahLst/>
              <a:cxnLst/>
              <a:rect l="l" t="t" r="r" b="b"/>
              <a:pathLst>
                <a:path w="2270436" h="835331">
                  <a:moveTo>
                    <a:pt x="0" y="0"/>
                  </a:moveTo>
                  <a:lnTo>
                    <a:pt x="2270436" y="0"/>
                  </a:lnTo>
                  <a:lnTo>
                    <a:pt x="2270436" y="835331"/>
                  </a:lnTo>
                  <a:lnTo>
                    <a:pt x="0" y="835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83564" y="496441"/>
            <a:ext cx="6572549" cy="626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4"/>
              </a:lnSpc>
            </a:pPr>
            <a:r>
              <a:rPr lang="en-US" sz="4364" b="1" spc="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How will we stop it?</a:t>
            </a:r>
          </a:p>
        </p:txBody>
      </p:sp>
      <p:sp>
        <p:nvSpPr>
          <p:cNvPr id="3" name="AutoShape 3"/>
          <p:cNvSpPr/>
          <p:nvPr/>
        </p:nvSpPr>
        <p:spPr>
          <a:xfrm>
            <a:off x="9017000" y="-216918"/>
            <a:ext cx="9525" cy="7821877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4" name="AutoShape 4"/>
          <p:cNvSpPr/>
          <p:nvPr/>
        </p:nvSpPr>
        <p:spPr>
          <a:xfrm>
            <a:off x="-69603" y="1683678"/>
            <a:ext cx="9823203" cy="956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5" name="TextBox 5"/>
          <p:cNvSpPr txBox="1"/>
          <p:nvPr/>
        </p:nvSpPr>
        <p:spPr>
          <a:xfrm>
            <a:off x="9245141" y="545401"/>
            <a:ext cx="325383" cy="471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24716" y="2443063"/>
            <a:ext cx="7700248" cy="603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447"/>
              </a:lnSpc>
            </a:pPr>
            <a:r>
              <a:rPr lang="en-US" sz="1748" spc="20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How will your solution detect, prevent, or respond to the fraud</a:t>
            </a:r>
          </a:p>
          <a:p>
            <a:pPr algn="just">
              <a:lnSpc>
                <a:spcPts val="2447"/>
              </a:lnSpc>
              <a:spcBef>
                <a:spcPct val="0"/>
              </a:spcBef>
            </a:pPr>
            <a:r>
              <a:rPr lang="en-US" sz="1748" spc="20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Briefly explain your approach and how it stops the fraud.</a:t>
            </a:r>
          </a:p>
        </p:txBody>
      </p:sp>
      <p:sp>
        <p:nvSpPr>
          <p:cNvPr id="7" name="Freeform 7"/>
          <p:cNvSpPr/>
          <p:nvPr/>
        </p:nvSpPr>
        <p:spPr>
          <a:xfrm>
            <a:off x="2370677" y="1151477"/>
            <a:ext cx="5012247" cy="5012247"/>
          </a:xfrm>
          <a:custGeom>
            <a:avLst/>
            <a:gdLst/>
            <a:ahLst/>
            <a:cxnLst/>
            <a:rect l="l" t="t" r="r" b="b"/>
            <a:pathLst>
              <a:path w="5012247" h="5012247">
                <a:moveTo>
                  <a:pt x="0" y="0"/>
                </a:moveTo>
                <a:lnTo>
                  <a:pt x="5012246" y="0"/>
                </a:lnTo>
                <a:lnTo>
                  <a:pt x="5012246" y="5012246"/>
                </a:lnTo>
                <a:lnTo>
                  <a:pt x="0" y="50122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/>
            </a:stretch>
          </a:blipFill>
        </p:spPr>
      </p:sp>
      <p:sp>
        <p:nvSpPr>
          <p:cNvPr id="8" name="AutoShape 8"/>
          <p:cNvSpPr/>
          <p:nvPr/>
        </p:nvSpPr>
        <p:spPr>
          <a:xfrm>
            <a:off x="726440" y="127699"/>
            <a:ext cx="9525" cy="7440426"/>
          </a:xfrm>
          <a:prstGeom prst="rect">
            <a:avLst/>
          </a:prstGeom>
          <a:solidFill>
            <a:srgbClr val="000000"/>
          </a:solidFill>
        </p:spPr>
      </p:sp>
      <p:grpSp>
        <p:nvGrpSpPr>
          <p:cNvPr id="9" name="Group 9"/>
          <p:cNvGrpSpPr/>
          <p:nvPr/>
        </p:nvGrpSpPr>
        <p:grpSpPr>
          <a:xfrm>
            <a:off x="325798" y="6699312"/>
            <a:ext cx="87739" cy="482566"/>
            <a:chOff x="0" y="0"/>
            <a:chExt cx="116986" cy="643422"/>
          </a:xfrm>
        </p:grpSpPr>
        <p:grpSp>
          <p:nvGrpSpPr>
            <p:cNvPr id="10" name="Group 10"/>
            <p:cNvGrpSpPr>
              <a:grpSpLocks noChangeAspect="1"/>
            </p:cNvGrpSpPr>
            <p:nvPr/>
          </p:nvGrpSpPr>
          <p:grpSpPr>
            <a:xfrm rot="-10800000">
              <a:off x="0" y="350957"/>
              <a:ext cx="116986" cy="116986"/>
              <a:chOff x="0" y="0"/>
              <a:chExt cx="6355080" cy="635508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12" name="Group 12"/>
            <p:cNvGrpSpPr>
              <a:grpSpLocks noChangeAspect="1"/>
            </p:cNvGrpSpPr>
            <p:nvPr/>
          </p:nvGrpSpPr>
          <p:grpSpPr>
            <a:xfrm rot="-10800000">
              <a:off x="0" y="526436"/>
              <a:ext cx="116986" cy="116986"/>
              <a:chOff x="0" y="0"/>
              <a:chExt cx="6355080" cy="635508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14" name="Group 14"/>
            <p:cNvGrpSpPr>
              <a:grpSpLocks noChangeAspect="1"/>
            </p:cNvGrpSpPr>
            <p:nvPr/>
          </p:nvGrpSpPr>
          <p:grpSpPr>
            <a:xfrm rot="-10800000">
              <a:off x="0" y="175479"/>
              <a:ext cx="116986" cy="116986"/>
              <a:chOff x="0" y="0"/>
              <a:chExt cx="6355080" cy="635508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16" name="Group 16"/>
            <p:cNvGrpSpPr/>
            <p:nvPr/>
          </p:nvGrpSpPr>
          <p:grpSpPr>
            <a:xfrm>
              <a:off x="0" y="0"/>
              <a:ext cx="116986" cy="116986"/>
              <a:chOff x="0" y="0"/>
              <a:chExt cx="6350000" cy="63500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</p:grpSp>
      <p:sp>
        <p:nvSpPr>
          <p:cNvPr id="18" name="AutoShape 18"/>
          <p:cNvSpPr/>
          <p:nvPr/>
        </p:nvSpPr>
        <p:spPr>
          <a:xfrm>
            <a:off x="-2787" y="0"/>
            <a:ext cx="738752" cy="168623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9" name="AutoShape 19"/>
          <p:cNvSpPr/>
          <p:nvPr/>
        </p:nvSpPr>
        <p:spPr>
          <a:xfrm>
            <a:off x="0" y="6574107"/>
            <a:ext cx="9017000" cy="9573"/>
          </a:xfrm>
          <a:prstGeom prst="rect">
            <a:avLst/>
          </a:prstGeom>
          <a:solidFill>
            <a:srgbClr val="000000"/>
          </a:solidFill>
        </p:spPr>
      </p:sp>
      <p:grpSp>
        <p:nvGrpSpPr>
          <p:cNvPr id="20" name="Group 20"/>
          <p:cNvGrpSpPr/>
          <p:nvPr/>
        </p:nvGrpSpPr>
        <p:grpSpPr>
          <a:xfrm>
            <a:off x="6383153" y="6602730"/>
            <a:ext cx="2498501" cy="637630"/>
            <a:chOff x="0" y="0"/>
            <a:chExt cx="3331335" cy="85017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80439" cy="850174"/>
            </a:xfrm>
            <a:custGeom>
              <a:avLst/>
              <a:gdLst/>
              <a:ahLst/>
              <a:cxnLst/>
              <a:rect l="l" t="t" r="r" b="b"/>
              <a:pathLst>
                <a:path w="880439" h="850174">
                  <a:moveTo>
                    <a:pt x="0" y="0"/>
                  </a:moveTo>
                  <a:lnTo>
                    <a:pt x="880439" y="0"/>
                  </a:lnTo>
                  <a:lnTo>
                    <a:pt x="880439" y="850174"/>
                  </a:lnTo>
                  <a:lnTo>
                    <a:pt x="0" y="850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1060899" y="14843"/>
              <a:ext cx="2270436" cy="835331"/>
            </a:xfrm>
            <a:custGeom>
              <a:avLst/>
              <a:gdLst/>
              <a:ahLst/>
              <a:cxnLst/>
              <a:rect l="l" t="t" r="r" b="b"/>
              <a:pathLst>
                <a:path w="2270436" h="835331">
                  <a:moveTo>
                    <a:pt x="0" y="0"/>
                  </a:moveTo>
                  <a:lnTo>
                    <a:pt x="2270436" y="0"/>
                  </a:lnTo>
                  <a:lnTo>
                    <a:pt x="2270436" y="835331"/>
                  </a:lnTo>
                  <a:lnTo>
                    <a:pt x="0" y="835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53006" y="-19075"/>
            <a:ext cx="788971" cy="172020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" name="AutoShape 3"/>
          <p:cNvSpPr/>
          <p:nvPr/>
        </p:nvSpPr>
        <p:spPr>
          <a:xfrm>
            <a:off x="9017000" y="-115563"/>
            <a:ext cx="9525" cy="7510726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4" name="AutoShape 4"/>
          <p:cNvSpPr/>
          <p:nvPr/>
        </p:nvSpPr>
        <p:spPr>
          <a:xfrm>
            <a:off x="0" y="1691580"/>
            <a:ext cx="9753600" cy="955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5" name="AutoShape 5"/>
          <p:cNvSpPr/>
          <p:nvPr/>
        </p:nvSpPr>
        <p:spPr>
          <a:xfrm>
            <a:off x="0" y="6574107"/>
            <a:ext cx="9017000" cy="9573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6" name="TextBox 6"/>
          <p:cNvSpPr txBox="1"/>
          <p:nvPr/>
        </p:nvSpPr>
        <p:spPr>
          <a:xfrm>
            <a:off x="1479698" y="488354"/>
            <a:ext cx="5779401" cy="626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4"/>
              </a:lnSpc>
            </a:pPr>
            <a:r>
              <a:rPr lang="en-US" sz="4364" b="1" spc="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Implementation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09121" y="3404731"/>
            <a:ext cx="6037810" cy="908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7"/>
              </a:lnSpc>
            </a:pPr>
            <a:r>
              <a:rPr lang="en-US" sz="1748" spc="20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How will you implement this solution.</a:t>
            </a:r>
          </a:p>
          <a:p>
            <a:pPr algn="l">
              <a:lnSpc>
                <a:spcPts val="2447"/>
              </a:lnSpc>
              <a:spcBef>
                <a:spcPct val="0"/>
              </a:spcBef>
            </a:pPr>
            <a:r>
              <a:rPr lang="en-US" sz="1748" spc="20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keep your Idea specific technically feasible and demonstratable</a:t>
            </a:r>
          </a:p>
        </p:txBody>
      </p:sp>
      <p:sp>
        <p:nvSpPr>
          <p:cNvPr id="8" name="Freeform 8"/>
          <p:cNvSpPr/>
          <p:nvPr/>
        </p:nvSpPr>
        <p:spPr>
          <a:xfrm>
            <a:off x="2370677" y="1151477"/>
            <a:ext cx="5012247" cy="5012247"/>
          </a:xfrm>
          <a:custGeom>
            <a:avLst/>
            <a:gdLst/>
            <a:ahLst/>
            <a:cxnLst/>
            <a:rect l="l" t="t" r="r" b="b"/>
            <a:pathLst>
              <a:path w="5012247" h="5012247">
                <a:moveTo>
                  <a:pt x="0" y="0"/>
                </a:moveTo>
                <a:lnTo>
                  <a:pt x="5012246" y="0"/>
                </a:lnTo>
                <a:lnTo>
                  <a:pt x="5012246" y="5012246"/>
                </a:lnTo>
                <a:lnTo>
                  <a:pt x="0" y="50122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/>
            </a:stretch>
          </a:blipFill>
        </p:spPr>
      </p:sp>
      <p:sp>
        <p:nvSpPr>
          <p:cNvPr id="9" name="AutoShape 9"/>
          <p:cNvSpPr/>
          <p:nvPr/>
        </p:nvSpPr>
        <p:spPr>
          <a:xfrm>
            <a:off x="726440" y="127699"/>
            <a:ext cx="9525" cy="7440426"/>
          </a:xfrm>
          <a:prstGeom prst="rect">
            <a:avLst/>
          </a:prstGeom>
          <a:solidFill>
            <a:srgbClr val="000000"/>
          </a:solidFill>
        </p:spPr>
      </p:sp>
      <p:grpSp>
        <p:nvGrpSpPr>
          <p:cNvPr id="10" name="Group 10"/>
          <p:cNvGrpSpPr/>
          <p:nvPr/>
        </p:nvGrpSpPr>
        <p:grpSpPr>
          <a:xfrm>
            <a:off x="325798" y="6718362"/>
            <a:ext cx="87739" cy="482566"/>
            <a:chOff x="0" y="0"/>
            <a:chExt cx="116986" cy="643422"/>
          </a:xfrm>
        </p:grpSpPr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 rot="-10800000">
              <a:off x="0" y="350957"/>
              <a:ext cx="116986" cy="116986"/>
              <a:chOff x="0" y="0"/>
              <a:chExt cx="6355080" cy="635508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13" name="Group 13"/>
            <p:cNvGrpSpPr>
              <a:grpSpLocks noChangeAspect="1"/>
            </p:cNvGrpSpPr>
            <p:nvPr/>
          </p:nvGrpSpPr>
          <p:grpSpPr>
            <a:xfrm rot="-10800000">
              <a:off x="0" y="526436"/>
              <a:ext cx="116986" cy="116986"/>
              <a:chOff x="0" y="0"/>
              <a:chExt cx="6355080" cy="635508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15" name="Group 15"/>
            <p:cNvGrpSpPr>
              <a:grpSpLocks noChangeAspect="1"/>
            </p:cNvGrpSpPr>
            <p:nvPr/>
          </p:nvGrpSpPr>
          <p:grpSpPr>
            <a:xfrm rot="-10800000">
              <a:off x="0" y="175479"/>
              <a:ext cx="116986" cy="116986"/>
              <a:chOff x="0" y="0"/>
              <a:chExt cx="6355080" cy="635508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17" name="Group 17"/>
            <p:cNvGrpSpPr/>
            <p:nvPr/>
          </p:nvGrpSpPr>
          <p:grpSpPr>
            <a:xfrm>
              <a:off x="0" y="0"/>
              <a:ext cx="116986" cy="116986"/>
              <a:chOff x="0" y="0"/>
              <a:chExt cx="6350000" cy="63500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</p:grpSp>
      <p:sp>
        <p:nvSpPr>
          <p:cNvPr id="19" name="TextBox 19"/>
          <p:cNvSpPr txBox="1"/>
          <p:nvPr/>
        </p:nvSpPr>
        <p:spPr>
          <a:xfrm>
            <a:off x="242924" y="716044"/>
            <a:ext cx="325383" cy="471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03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6383153" y="6602730"/>
            <a:ext cx="2498501" cy="637630"/>
            <a:chOff x="0" y="0"/>
            <a:chExt cx="3331335" cy="85017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80439" cy="850174"/>
            </a:xfrm>
            <a:custGeom>
              <a:avLst/>
              <a:gdLst/>
              <a:ahLst/>
              <a:cxnLst/>
              <a:rect l="l" t="t" r="r" b="b"/>
              <a:pathLst>
                <a:path w="880439" h="850174">
                  <a:moveTo>
                    <a:pt x="0" y="0"/>
                  </a:moveTo>
                  <a:lnTo>
                    <a:pt x="880439" y="0"/>
                  </a:lnTo>
                  <a:lnTo>
                    <a:pt x="880439" y="850174"/>
                  </a:lnTo>
                  <a:lnTo>
                    <a:pt x="0" y="850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1060899" y="14843"/>
              <a:ext cx="2270436" cy="835331"/>
            </a:xfrm>
            <a:custGeom>
              <a:avLst/>
              <a:gdLst/>
              <a:ahLst/>
              <a:cxnLst/>
              <a:rect l="l" t="t" r="r" b="b"/>
              <a:pathLst>
                <a:path w="2270436" h="835331">
                  <a:moveTo>
                    <a:pt x="0" y="0"/>
                  </a:moveTo>
                  <a:lnTo>
                    <a:pt x="2270436" y="0"/>
                  </a:lnTo>
                  <a:lnTo>
                    <a:pt x="2270436" y="835331"/>
                  </a:lnTo>
                  <a:lnTo>
                    <a:pt x="0" y="835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017000" y="-40858"/>
            <a:ext cx="9525" cy="7556654"/>
          </a:xfrm>
          <a:prstGeom prst="rect">
            <a:avLst/>
          </a:prstGeom>
          <a:solidFill>
            <a:srgbClr val="000000"/>
          </a:solidFill>
        </p:spPr>
      </p:sp>
      <p:grpSp>
        <p:nvGrpSpPr>
          <p:cNvPr id="3" name="Group 3"/>
          <p:cNvGrpSpPr/>
          <p:nvPr/>
        </p:nvGrpSpPr>
        <p:grpSpPr>
          <a:xfrm>
            <a:off x="3204177" y="731520"/>
            <a:ext cx="4501240" cy="1218868"/>
            <a:chOff x="0" y="0"/>
            <a:chExt cx="6001653" cy="1625157"/>
          </a:xfrm>
        </p:grpSpPr>
        <p:sp>
          <p:nvSpPr>
            <p:cNvPr id="4" name="TextBox 4"/>
            <p:cNvSpPr txBox="1"/>
            <p:nvPr/>
          </p:nvSpPr>
          <p:spPr>
            <a:xfrm>
              <a:off x="0" y="1333683"/>
              <a:ext cx="6001653" cy="2914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98"/>
                </a:lnSpc>
              </a:pPr>
              <a:endParaRPr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8575"/>
              <a:ext cx="6001653" cy="7553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06"/>
                </a:lnSpc>
              </a:pPr>
              <a:r>
                <a:rPr lang="en-US" sz="3880" b="1" spc="62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Conclusion</a:t>
              </a:r>
            </a:p>
          </p:txBody>
        </p:sp>
      </p:grpSp>
      <p:sp>
        <p:nvSpPr>
          <p:cNvPr id="6" name="AutoShape 6"/>
          <p:cNvSpPr/>
          <p:nvPr/>
        </p:nvSpPr>
        <p:spPr>
          <a:xfrm>
            <a:off x="731520" y="0"/>
            <a:ext cx="9525" cy="73152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7" name="Freeform 7"/>
          <p:cNvSpPr/>
          <p:nvPr/>
        </p:nvSpPr>
        <p:spPr>
          <a:xfrm>
            <a:off x="2370677" y="1151477"/>
            <a:ext cx="5012247" cy="5012247"/>
          </a:xfrm>
          <a:custGeom>
            <a:avLst/>
            <a:gdLst/>
            <a:ahLst/>
            <a:cxnLst/>
            <a:rect l="l" t="t" r="r" b="b"/>
            <a:pathLst>
              <a:path w="5012247" h="5012247">
                <a:moveTo>
                  <a:pt x="0" y="0"/>
                </a:moveTo>
                <a:lnTo>
                  <a:pt x="5012246" y="0"/>
                </a:lnTo>
                <a:lnTo>
                  <a:pt x="5012246" y="5012246"/>
                </a:lnTo>
                <a:lnTo>
                  <a:pt x="0" y="50122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325798" y="6718362"/>
            <a:ext cx="87739" cy="482566"/>
            <a:chOff x="0" y="0"/>
            <a:chExt cx="116986" cy="643422"/>
          </a:xfrm>
        </p:grpSpPr>
        <p:grpSp>
          <p:nvGrpSpPr>
            <p:cNvPr id="9" name="Group 9"/>
            <p:cNvGrpSpPr>
              <a:grpSpLocks noChangeAspect="1"/>
            </p:cNvGrpSpPr>
            <p:nvPr/>
          </p:nvGrpSpPr>
          <p:grpSpPr>
            <a:xfrm rot="-10800000">
              <a:off x="0" y="350957"/>
              <a:ext cx="116986" cy="116986"/>
              <a:chOff x="0" y="0"/>
              <a:chExt cx="6355080" cy="635508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 rot="-10800000">
              <a:off x="0" y="526436"/>
              <a:ext cx="116986" cy="116986"/>
              <a:chOff x="0" y="0"/>
              <a:chExt cx="6355080" cy="635508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13" name="Group 13"/>
            <p:cNvGrpSpPr>
              <a:grpSpLocks noChangeAspect="1"/>
            </p:cNvGrpSpPr>
            <p:nvPr/>
          </p:nvGrpSpPr>
          <p:grpSpPr>
            <a:xfrm rot="-10800000">
              <a:off x="0" y="175479"/>
              <a:ext cx="116986" cy="116986"/>
              <a:chOff x="0" y="0"/>
              <a:chExt cx="6355080" cy="635508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15" name="Group 15"/>
            <p:cNvGrpSpPr/>
            <p:nvPr/>
          </p:nvGrpSpPr>
          <p:grpSpPr>
            <a:xfrm>
              <a:off x="0" y="0"/>
              <a:ext cx="116986" cy="116986"/>
              <a:chOff x="0" y="0"/>
              <a:chExt cx="6350000" cy="6350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</p:grpSp>
      <p:sp>
        <p:nvSpPr>
          <p:cNvPr id="17" name="AutoShape 17"/>
          <p:cNvSpPr/>
          <p:nvPr/>
        </p:nvSpPr>
        <p:spPr>
          <a:xfrm>
            <a:off x="0" y="6564582"/>
            <a:ext cx="9017000" cy="9573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8" name="TextBox 18"/>
          <p:cNvSpPr txBox="1"/>
          <p:nvPr/>
        </p:nvSpPr>
        <p:spPr>
          <a:xfrm>
            <a:off x="9245141" y="486300"/>
            <a:ext cx="325383" cy="471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04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6383153" y="6602730"/>
            <a:ext cx="2498501" cy="637630"/>
            <a:chOff x="0" y="0"/>
            <a:chExt cx="3331335" cy="85017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80439" cy="850174"/>
            </a:xfrm>
            <a:custGeom>
              <a:avLst/>
              <a:gdLst/>
              <a:ahLst/>
              <a:cxnLst/>
              <a:rect l="l" t="t" r="r" b="b"/>
              <a:pathLst>
                <a:path w="880439" h="850174">
                  <a:moveTo>
                    <a:pt x="0" y="0"/>
                  </a:moveTo>
                  <a:lnTo>
                    <a:pt x="880439" y="0"/>
                  </a:lnTo>
                  <a:lnTo>
                    <a:pt x="880439" y="850174"/>
                  </a:lnTo>
                  <a:lnTo>
                    <a:pt x="0" y="850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21" name="Freeform 21"/>
            <p:cNvSpPr/>
            <p:nvPr/>
          </p:nvSpPr>
          <p:spPr>
            <a:xfrm>
              <a:off x="1060899" y="14843"/>
              <a:ext cx="2270436" cy="835331"/>
            </a:xfrm>
            <a:custGeom>
              <a:avLst/>
              <a:gdLst/>
              <a:ahLst/>
              <a:cxnLst/>
              <a:rect l="l" t="t" r="r" b="b"/>
              <a:pathLst>
                <a:path w="2270436" h="835331">
                  <a:moveTo>
                    <a:pt x="0" y="0"/>
                  </a:moveTo>
                  <a:lnTo>
                    <a:pt x="2270436" y="0"/>
                  </a:lnTo>
                  <a:lnTo>
                    <a:pt x="2270436" y="835331"/>
                  </a:lnTo>
                  <a:lnTo>
                    <a:pt x="0" y="835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</Words>
  <Application>Microsoft Office PowerPoint</Application>
  <PresentationFormat>Custom</PresentationFormat>
  <Paragraphs>20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Name</dc:title>
  <cp:lastModifiedBy>Abhinav .S. Rajesh</cp:lastModifiedBy>
  <cp:revision>3</cp:revision>
  <dcterms:created xsi:type="dcterms:W3CDTF">2006-08-16T00:00:00Z</dcterms:created>
  <dcterms:modified xsi:type="dcterms:W3CDTF">2026-09-16T05:34:18Z</dcterms:modified>
  <dc:identifier>DAHVPFeyr-A</dc:identifier>
</cp:coreProperties>
</file>